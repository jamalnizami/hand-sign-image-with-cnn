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Gotham" charset="1" panose="00000000000000000000"/>
      <p:regular r:id="rId17"/>
    </p:embeddedFont>
    <p:embeddedFont>
      <p:font typeface="Gotham Bold" charset="1" panose="00000000000000000000"/>
      <p:regular r:id="rId18"/>
    </p:embeddedFont>
    <p:embeddedFont>
      <p:font typeface="Fredoka" charset="1" panose="02000000000000000000"/>
      <p:regular r:id="rId19"/>
    </p:embeddedFont>
    <p:embeddedFont>
      <p:font typeface="Poppins"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290627" y="8231777"/>
            <a:ext cx="6386288" cy="2055223"/>
          </a:xfrm>
          <a:custGeom>
            <a:avLst/>
            <a:gdLst/>
            <a:ahLst/>
            <a:cxnLst/>
            <a:rect r="r" b="b" t="t" l="l"/>
            <a:pathLst>
              <a:path h="2055223" w="6386288">
                <a:moveTo>
                  <a:pt x="6386287" y="0"/>
                </a:moveTo>
                <a:lnTo>
                  <a:pt x="0" y="0"/>
                </a:lnTo>
                <a:lnTo>
                  <a:pt x="0" y="2055223"/>
                </a:lnTo>
                <a:lnTo>
                  <a:pt x="6386287" y="2055223"/>
                </a:lnTo>
                <a:lnTo>
                  <a:pt x="638628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3159321" y="0"/>
            <a:ext cx="6381347" cy="2053633"/>
          </a:xfrm>
          <a:custGeom>
            <a:avLst/>
            <a:gdLst/>
            <a:ahLst/>
            <a:cxnLst/>
            <a:rect r="r" b="b" t="t" l="l"/>
            <a:pathLst>
              <a:path h="2053633" w="6381347">
                <a:moveTo>
                  <a:pt x="0" y="2053633"/>
                </a:moveTo>
                <a:lnTo>
                  <a:pt x="6381347" y="2053633"/>
                </a:lnTo>
                <a:lnTo>
                  <a:pt x="6381347" y="0"/>
                </a:lnTo>
                <a:lnTo>
                  <a:pt x="0" y="0"/>
                </a:lnTo>
                <a:lnTo>
                  <a:pt x="0" y="205363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028700" y="1026817"/>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4314668" y="8615835"/>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27699" y="4285162"/>
            <a:ext cx="12432603" cy="2190115"/>
          </a:xfrm>
          <a:prstGeom prst="rect">
            <a:avLst/>
          </a:prstGeom>
        </p:spPr>
        <p:txBody>
          <a:bodyPr anchor="t" rtlCol="false" tIns="0" lIns="0" bIns="0" rIns="0">
            <a:spAutoFit/>
          </a:bodyPr>
          <a:lstStyle/>
          <a:p>
            <a:pPr algn="ctr">
              <a:lnSpc>
                <a:spcPts val="8480"/>
              </a:lnSpc>
            </a:pPr>
            <a:r>
              <a:rPr lang="en-US" sz="8000">
                <a:solidFill>
                  <a:srgbClr val="4D4A7D"/>
                </a:solidFill>
                <a:latin typeface="Gotham"/>
                <a:ea typeface="Gotham"/>
                <a:cs typeface="Gotham"/>
                <a:sym typeface="Gotham"/>
              </a:rPr>
              <a:t>Hand Sign Detection</a:t>
            </a:r>
          </a:p>
          <a:p>
            <a:pPr algn="ctr">
              <a:lnSpc>
                <a:spcPts val="8480"/>
              </a:lnSpc>
            </a:pPr>
            <a:r>
              <a:rPr lang="en-US" sz="8000">
                <a:solidFill>
                  <a:srgbClr val="4D4A7D"/>
                </a:solidFill>
                <a:latin typeface="Gotham"/>
                <a:ea typeface="Gotham"/>
                <a:cs typeface="Gotham"/>
                <a:sym typeface="Gotham"/>
              </a:rPr>
              <a:t>Using CNN</a:t>
            </a:r>
          </a:p>
        </p:txBody>
      </p:sp>
      <p:sp>
        <p:nvSpPr>
          <p:cNvPr name="Freeform 7" id="7"/>
          <p:cNvSpPr/>
          <p:nvPr/>
        </p:nvSpPr>
        <p:spPr>
          <a:xfrm flipH="false" flipV="false" rot="0">
            <a:off x="11398200" y="3294878"/>
            <a:ext cx="600904" cy="612032"/>
          </a:xfrm>
          <a:custGeom>
            <a:avLst/>
            <a:gdLst/>
            <a:ahLst/>
            <a:cxnLst/>
            <a:rect r="r" b="b" t="t" l="l"/>
            <a:pathLst>
              <a:path h="612032" w="600904">
                <a:moveTo>
                  <a:pt x="0" y="0"/>
                </a:moveTo>
                <a:lnTo>
                  <a:pt x="600905" y="0"/>
                </a:lnTo>
                <a:lnTo>
                  <a:pt x="600905" y="612032"/>
                </a:lnTo>
                <a:lnTo>
                  <a:pt x="0" y="6120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6623866" y="6974726"/>
            <a:ext cx="4774334" cy="392684"/>
          </a:xfrm>
          <a:prstGeom prst="rect">
            <a:avLst/>
          </a:prstGeom>
        </p:spPr>
        <p:txBody>
          <a:bodyPr anchor="t" rtlCol="false" tIns="0" lIns="0" bIns="0" rIns="0">
            <a:spAutoFit/>
          </a:bodyPr>
          <a:lstStyle/>
          <a:p>
            <a:pPr algn="ctr">
              <a:lnSpc>
                <a:spcPts val="2967"/>
              </a:lnSpc>
              <a:spcBef>
                <a:spcPct val="0"/>
              </a:spcBef>
            </a:pPr>
            <a:r>
              <a:rPr lang="en-US" sz="2799">
                <a:solidFill>
                  <a:srgbClr val="756FBF"/>
                </a:solidFill>
                <a:latin typeface="Gotham"/>
                <a:ea typeface="Gotham"/>
                <a:cs typeface="Gotham"/>
                <a:sym typeface="Gotham"/>
              </a:rPr>
              <a:t>Muhammad Jamal Anjum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4D4A7D"/>
        </a:solidFill>
      </p:bgPr>
    </p:bg>
    <p:spTree>
      <p:nvGrpSpPr>
        <p:cNvPr id="1" name=""/>
        <p:cNvGrpSpPr/>
        <p:nvPr/>
      </p:nvGrpSpPr>
      <p:grpSpPr>
        <a:xfrm>
          <a:off x="0" y="0"/>
          <a:ext cx="0" cy="0"/>
          <a:chOff x="0" y="0"/>
          <a:chExt cx="0" cy="0"/>
        </a:xfrm>
      </p:grpSpPr>
      <p:sp>
        <p:nvSpPr>
          <p:cNvPr name="TextBox 2" id="2"/>
          <p:cNvSpPr txBox="true"/>
          <p:nvPr/>
        </p:nvSpPr>
        <p:spPr>
          <a:xfrm rot="0">
            <a:off x="4699436" y="1787708"/>
            <a:ext cx="8889128" cy="1343653"/>
          </a:xfrm>
          <a:prstGeom prst="rect">
            <a:avLst/>
          </a:prstGeom>
        </p:spPr>
        <p:txBody>
          <a:bodyPr anchor="t" rtlCol="false" tIns="0" lIns="0" bIns="0" rIns="0">
            <a:spAutoFit/>
          </a:bodyPr>
          <a:lstStyle/>
          <a:p>
            <a:pPr algn="ctr">
              <a:lnSpc>
                <a:spcPts val="10258"/>
              </a:lnSpc>
            </a:pPr>
            <a:r>
              <a:rPr lang="en-US" sz="9678" b="true">
                <a:solidFill>
                  <a:srgbClr val="F2F1FF"/>
                </a:solidFill>
                <a:latin typeface="Gotham Bold"/>
                <a:ea typeface="Gotham Bold"/>
                <a:cs typeface="Gotham Bold"/>
                <a:sym typeface="Gotham Bold"/>
              </a:rPr>
              <a:t>Introduction </a:t>
            </a:r>
          </a:p>
        </p:txBody>
      </p:sp>
      <p:sp>
        <p:nvSpPr>
          <p:cNvPr name="TextBox 3" id="3"/>
          <p:cNvSpPr txBox="true"/>
          <p:nvPr/>
        </p:nvSpPr>
        <p:spPr>
          <a:xfrm rot="0">
            <a:off x="1966176" y="3717352"/>
            <a:ext cx="14355648" cy="4245816"/>
          </a:xfrm>
          <a:prstGeom prst="rect">
            <a:avLst/>
          </a:prstGeom>
        </p:spPr>
        <p:txBody>
          <a:bodyPr anchor="t" rtlCol="false" tIns="0" lIns="0" bIns="0" rIns="0">
            <a:spAutoFit/>
          </a:bodyPr>
          <a:lstStyle/>
          <a:p>
            <a:pPr algn="just">
              <a:lnSpc>
                <a:spcPts val="4853"/>
              </a:lnSpc>
            </a:pPr>
            <a:r>
              <a:rPr lang="en-US" sz="3466">
                <a:solidFill>
                  <a:srgbClr val="F2F1FF"/>
                </a:solidFill>
                <a:latin typeface="Gotham"/>
                <a:ea typeface="Gotham"/>
                <a:cs typeface="Gotham"/>
                <a:sym typeface="Gotham"/>
              </a:rPr>
              <a:t>Hand gestures are a natural form of communication with applications like sign language translation and touchless control. Recognizing them is challenging due to variations in shape, orientation, and lighting. Convolutional Neural Networks (CNNs) can automatically learn image features, and in this project, we use both predefined and custom CNNs to classify hand signs accurately.</a:t>
            </a:r>
          </a:p>
        </p:txBody>
      </p:sp>
      <p:sp>
        <p:nvSpPr>
          <p:cNvPr name="Freeform 4" id="4"/>
          <p:cNvSpPr/>
          <p:nvPr/>
        </p:nvSpPr>
        <p:spPr>
          <a:xfrm flipH="true" flipV="false" rot="0">
            <a:off x="14314668" y="8615835"/>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0">
            <a:off x="13123595" y="1883"/>
            <a:ext cx="5164405" cy="1661999"/>
          </a:xfrm>
          <a:custGeom>
            <a:avLst/>
            <a:gdLst/>
            <a:ahLst/>
            <a:cxnLst/>
            <a:rect r="r" b="b" t="t" l="l"/>
            <a:pathLst>
              <a:path h="1661999" w="5164405">
                <a:moveTo>
                  <a:pt x="5164405" y="1662000"/>
                </a:moveTo>
                <a:lnTo>
                  <a:pt x="0" y="1662000"/>
                </a:lnTo>
                <a:lnTo>
                  <a:pt x="0" y="0"/>
                </a:lnTo>
                <a:lnTo>
                  <a:pt x="5164405" y="0"/>
                </a:lnTo>
                <a:lnTo>
                  <a:pt x="5164405" y="16620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0">
            <a:off x="0" y="1883"/>
            <a:ext cx="5164405" cy="1661999"/>
          </a:xfrm>
          <a:custGeom>
            <a:avLst/>
            <a:gdLst/>
            <a:ahLst/>
            <a:cxnLst/>
            <a:rect r="r" b="b" t="t" l="l"/>
            <a:pathLst>
              <a:path h="1661999" w="5164405">
                <a:moveTo>
                  <a:pt x="0" y="1662000"/>
                </a:moveTo>
                <a:lnTo>
                  <a:pt x="5164405" y="1662000"/>
                </a:lnTo>
                <a:lnTo>
                  <a:pt x="5164405" y="0"/>
                </a:lnTo>
                <a:lnTo>
                  <a:pt x="0" y="0"/>
                </a:lnTo>
                <a:lnTo>
                  <a:pt x="0" y="166200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4D4A7D"/>
        </a:solidFill>
      </p:bgPr>
    </p:bg>
    <p:spTree>
      <p:nvGrpSpPr>
        <p:cNvPr id="1" name=""/>
        <p:cNvGrpSpPr/>
        <p:nvPr/>
      </p:nvGrpSpPr>
      <p:grpSpPr>
        <a:xfrm>
          <a:off x="0" y="0"/>
          <a:ext cx="0" cy="0"/>
          <a:chOff x="0" y="0"/>
          <a:chExt cx="0" cy="0"/>
        </a:xfrm>
      </p:grpSpPr>
      <p:grpSp>
        <p:nvGrpSpPr>
          <p:cNvPr name="Group 2" id="2"/>
          <p:cNvGrpSpPr/>
          <p:nvPr/>
        </p:nvGrpSpPr>
        <p:grpSpPr>
          <a:xfrm rot="0">
            <a:off x="1408296" y="3675648"/>
            <a:ext cx="4457511" cy="4458610"/>
            <a:chOff x="0" y="0"/>
            <a:chExt cx="812600" cy="812800"/>
          </a:xfrm>
        </p:grpSpPr>
        <p:sp>
          <p:nvSpPr>
            <p:cNvPr name="Freeform 3" id="3"/>
            <p:cNvSpPr/>
            <p:nvPr/>
          </p:nvSpPr>
          <p:spPr>
            <a:xfrm flipH="false" flipV="false" rot="0">
              <a:off x="0" y="0"/>
              <a:ext cx="812600" cy="812800"/>
            </a:xfrm>
            <a:custGeom>
              <a:avLst/>
              <a:gdLst/>
              <a:ahLst/>
              <a:cxnLst/>
              <a:rect r="r" b="b" t="t" l="l"/>
              <a:pathLst>
                <a:path h="812800" w="812600">
                  <a:moveTo>
                    <a:pt x="34737" y="0"/>
                  </a:moveTo>
                  <a:lnTo>
                    <a:pt x="777863" y="0"/>
                  </a:lnTo>
                  <a:cubicBezTo>
                    <a:pt x="787076" y="0"/>
                    <a:pt x="795911" y="3660"/>
                    <a:pt x="802426" y="10174"/>
                  </a:cubicBezTo>
                  <a:cubicBezTo>
                    <a:pt x="808940" y="16688"/>
                    <a:pt x="812600" y="25524"/>
                    <a:pt x="812600" y="34737"/>
                  </a:cubicBezTo>
                  <a:lnTo>
                    <a:pt x="812600" y="778064"/>
                  </a:lnTo>
                  <a:cubicBezTo>
                    <a:pt x="812600" y="797248"/>
                    <a:pt x="797048" y="812800"/>
                    <a:pt x="777863" y="812800"/>
                  </a:cubicBezTo>
                  <a:lnTo>
                    <a:pt x="34737" y="812800"/>
                  </a:lnTo>
                  <a:cubicBezTo>
                    <a:pt x="15552" y="812800"/>
                    <a:pt x="0" y="797248"/>
                    <a:pt x="0" y="778064"/>
                  </a:cubicBezTo>
                  <a:lnTo>
                    <a:pt x="0" y="34737"/>
                  </a:lnTo>
                  <a:cubicBezTo>
                    <a:pt x="0" y="15552"/>
                    <a:pt x="15552" y="0"/>
                    <a:pt x="34737" y="0"/>
                  </a:cubicBezTo>
                  <a:close/>
                </a:path>
              </a:pathLst>
            </a:custGeom>
            <a:blipFill>
              <a:blip r:embed="rId2"/>
              <a:stretch>
                <a:fillRect l="-12" t="0" r="-12" b="0"/>
              </a:stretch>
            </a:blipFill>
          </p:spPr>
        </p:sp>
      </p:grpSp>
      <p:grpSp>
        <p:nvGrpSpPr>
          <p:cNvPr name="Group 4" id="4"/>
          <p:cNvGrpSpPr/>
          <p:nvPr/>
        </p:nvGrpSpPr>
        <p:grpSpPr>
          <a:xfrm rot="0">
            <a:off x="6915244" y="3675648"/>
            <a:ext cx="4457511" cy="4458610"/>
            <a:chOff x="0" y="0"/>
            <a:chExt cx="812600" cy="812800"/>
          </a:xfrm>
        </p:grpSpPr>
        <p:sp>
          <p:nvSpPr>
            <p:cNvPr name="Freeform 5" id="5"/>
            <p:cNvSpPr/>
            <p:nvPr/>
          </p:nvSpPr>
          <p:spPr>
            <a:xfrm flipH="false" flipV="false" rot="0">
              <a:off x="0" y="0"/>
              <a:ext cx="812600" cy="812800"/>
            </a:xfrm>
            <a:custGeom>
              <a:avLst/>
              <a:gdLst/>
              <a:ahLst/>
              <a:cxnLst/>
              <a:rect r="r" b="b" t="t" l="l"/>
              <a:pathLst>
                <a:path h="812800" w="812600">
                  <a:moveTo>
                    <a:pt x="34737" y="0"/>
                  </a:moveTo>
                  <a:lnTo>
                    <a:pt x="777863" y="0"/>
                  </a:lnTo>
                  <a:cubicBezTo>
                    <a:pt x="787076" y="0"/>
                    <a:pt x="795911" y="3660"/>
                    <a:pt x="802426" y="10174"/>
                  </a:cubicBezTo>
                  <a:cubicBezTo>
                    <a:pt x="808940" y="16688"/>
                    <a:pt x="812600" y="25524"/>
                    <a:pt x="812600" y="34737"/>
                  </a:cubicBezTo>
                  <a:lnTo>
                    <a:pt x="812600" y="778064"/>
                  </a:lnTo>
                  <a:cubicBezTo>
                    <a:pt x="812600" y="797248"/>
                    <a:pt x="797048" y="812800"/>
                    <a:pt x="777863" y="812800"/>
                  </a:cubicBezTo>
                  <a:lnTo>
                    <a:pt x="34737" y="812800"/>
                  </a:lnTo>
                  <a:cubicBezTo>
                    <a:pt x="15552" y="812800"/>
                    <a:pt x="0" y="797248"/>
                    <a:pt x="0" y="778064"/>
                  </a:cubicBezTo>
                  <a:lnTo>
                    <a:pt x="0" y="34737"/>
                  </a:lnTo>
                  <a:cubicBezTo>
                    <a:pt x="0" y="15552"/>
                    <a:pt x="15552" y="0"/>
                    <a:pt x="34737" y="0"/>
                  </a:cubicBezTo>
                  <a:close/>
                </a:path>
              </a:pathLst>
            </a:custGeom>
            <a:blipFill>
              <a:blip r:embed="rId3"/>
              <a:stretch>
                <a:fillRect l="-12" t="0" r="-12" b="0"/>
              </a:stretch>
            </a:blipFill>
          </p:spPr>
        </p:sp>
      </p:grpSp>
      <p:grpSp>
        <p:nvGrpSpPr>
          <p:cNvPr name="Group 6" id="6"/>
          <p:cNvGrpSpPr/>
          <p:nvPr/>
        </p:nvGrpSpPr>
        <p:grpSpPr>
          <a:xfrm rot="0">
            <a:off x="12422193" y="3675648"/>
            <a:ext cx="4457511" cy="4458610"/>
            <a:chOff x="0" y="0"/>
            <a:chExt cx="812600" cy="812800"/>
          </a:xfrm>
        </p:grpSpPr>
        <p:sp>
          <p:nvSpPr>
            <p:cNvPr name="Freeform 7" id="7"/>
            <p:cNvSpPr/>
            <p:nvPr/>
          </p:nvSpPr>
          <p:spPr>
            <a:xfrm flipH="false" flipV="false" rot="0">
              <a:off x="0" y="0"/>
              <a:ext cx="812600" cy="812800"/>
            </a:xfrm>
            <a:custGeom>
              <a:avLst/>
              <a:gdLst/>
              <a:ahLst/>
              <a:cxnLst/>
              <a:rect r="r" b="b" t="t" l="l"/>
              <a:pathLst>
                <a:path h="812800" w="812600">
                  <a:moveTo>
                    <a:pt x="34737" y="0"/>
                  </a:moveTo>
                  <a:lnTo>
                    <a:pt x="777863" y="0"/>
                  </a:lnTo>
                  <a:cubicBezTo>
                    <a:pt x="787076" y="0"/>
                    <a:pt x="795911" y="3660"/>
                    <a:pt x="802426" y="10174"/>
                  </a:cubicBezTo>
                  <a:cubicBezTo>
                    <a:pt x="808940" y="16688"/>
                    <a:pt x="812600" y="25524"/>
                    <a:pt x="812600" y="34737"/>
                  </a:cubicBezTo>
                  <a:lnTo>
                    <a:pt x="812600" y="778064"/>
                  </a:lnTo>
                  <a:cubicBezTo>
                    <a:pt x="812600" y="797248"/>
                    <a:pt x="797048" y="812800"/>
                    <a:pt x="777863" y="812800"/>
                  </a:cubicBezTo>
                  <a:lnTo>
                    <a:pt x="34737" y="812800"/>
                  </a:lnTo>
                  <a:cubicBezTo>
                    <a:pt x="15552" y="812800"/>
                    <a:pt x="0" y="797248"/>
                    <a:pt x="0" y="778064"/>
                  </a:cubicBezTo>
                  <a:lnTo>
                    <a:pt x="0" y="34737"/>
                  </a:lnTo>
                  <a:cubicBezTo>
                    <a:pt x="0" y="15552"/>
                    <a:pt x="15552" y="0"/>
                    <a:pt x="34737" y="0"/>
                  </a:cubicBezTo>
                  <a:close/>
                </a:path>
              </a:pathLst>
            </a:custGeom>
            <a:blipFill>
              <a:blip r:embed="rId4"/>
              <a:stretch>
                <a:fillRect l="-12" t="0" r="-12" b="0"/>
              </a:stretch>
            </a:blipFill>
          </p:spPr>
        </p:sp>
      </p:grpSp>
      <p:sp>
        <p:nvSpPr>
          <p:cNvPr name="Freeform 8" id="8"/>
          <p:cNvSpPr/>
          <p:nvPr/>
        </p:nvSpPr>
        <p:spPr>
          <a:xfrm flipH="true" flipV="false" rot="0">
            <a:off x="14314668" y="1028700"/>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2217213" y="8235047"/>
            <a:ext cx="2078744" cy="986155"/>
          </a:xfrm>
          <a:prstGeom prst="rect">
            <a:avLst/>
          </a:prstGeom>
        </p:spPr>
        <p:txBody>
          <a:bodyPr anchor="t" rtlCol="false" tIns="0" lIns="0" bIns="0" rIns="0">
            <a:spAutoFit/>
          </a:bodyPr>
          <a:lstStyle/>
          <a:p>
            <a:pPr algn="ctr">
              <a:lnSpc>
                <a:spcPts val="3919"/>
              </a:lnSpc>
            </a:pPr>
            <a:r>
              <a:rPr lang="en-US" sz="2799">
                <a:solidFill>
                  <a:srgbClr val="F2F1FF"/>
                </a:solidFill>
                <a:latin typeface="Gotham"/>
                <a:ea typeface="Gotham"/>
                <a:cs typeface="Gotham"/>
                <a:sym typeface="Gotham"/>
              </a:rPr>
              <a:t>Represent</a:t>
            </a:r>
          </a:p>
          <a:p>
            <a:pPr algn="ctr">
              <a:lnSpc>
                <a:spcPts val="3919"/>
              </a:lnSpc>
            </a:pPr>
            <a:r>
              <a:rPr lang="en-US" sz="2799">
                <a:solidFill>
                  <a:srgbClr val="F2F1FF"/>
                </a:solidFill>
                <a:latin typeface="Gotham"/>
                <a:ea typeface="Gotham"/>
                <a:cs typeface="Gotham"/>
                <a:sym typeface="Gotham"/>
              </a:rPr>
              <a:t>A</a:t>
            </a:r>
          </a:p>
        </p:txBody>
      </p:sp>
      <p:sp>
        <p:nvSpPr>
          <p:cNvPr name="TextBox 10" id="10"/>
          <p:cNvSpPr txBox="true"/>
          <p:nvPr/>
        </p:nvSpPr>
        <p:spPr>
          <a:xfrm rot="0">
            <a:off x="13611576" y="8235047"/>
            <a:ext cx="2078744" cy="986155"/>
          </a:xfrm>
          <a:prstGeom prst="rect">
            <a:avLst/>
          </a:prstGeom>
        </p:spPr>
        <p:txBody>
          <a:bodyPr anchor="t" rtlCol="false" tIns="0" lIns="0" bIns="0" rIns="0">
            <a:spAutoFit/>
          </a:bodyPr>
          <a:lstStyle/>
          <a:p>
            <a:pPr algn="ctr">
              <a:lnSpc>
                <a:spcPts val="3919"/>
              </a:lnSpc>
            </a:pPr>
            <a:r>
              <a:rPr lang="en-US" sz="2799">
                <a:solidFill>
                  <a:srgbClr val="F2F1FF"/>
                </a:solidFill>
                <a:latin typeface="Gotham"/>
                <a:ea typeface="Gotham"/>
                <a:cs typeface="Gotham"/>
                <a:sym typeface="Gotham"/>
              </a:rPr>
              <a:t>Represent</a:t>
            </a:r>
          </a:p>
          <a:p>
            <a:pPr algn="ctr">
              <a:lnSpc>
                <a:spcPts val="3919"/>
              </a:lnSpc>
            </a:pPr>
            <a:r>
              <a:rPr lang="en-US" sz="2799">
                <a:solidFill>
                  <a:srgbClr val="F2F1FF"/>
                </a:solidFill>
                <a:latin typeface="Gotham"/>
                <a:ea typeface="Gotham"/>
                <a:cs typeface="Gotham"/>
                <a:sym typeface="Gotham"/>
              </a:rPr>
              <a:t>C</a:t>
            </a:r>
          </a:p>
        </p:txBody>
      </p:sp>
      <p:sp>
        <p:nvSpPr>
          <p:cNvPr name="TextBox 11" id="11"/>
          <p:cNvSpPr txBox="true"/>
          <p:nvPr/>
        </p:nvSpPr>
        <p:spPr>
          <a:xfrm rot="0">
            <a:off x="8104628" y="8235047"/>
            <a:ext cx="2078744" cy="986155"/>
          </a:xfrm>
          <a:prstGeom prst="rect">
            <a:avLst/>
          </a:prstGeom>
        </p:spPr>
        <p:txBody>
          <a:bodyPr anchor="t" rtlCol="false" tIns="0" lIns="0" bIns="0" rIns="0">
            <a:spAutoFit/>
          </a:bodyPr>
          <a:lstStyle/>
          <a:p>
            <a:pPr algn="ctr">
              <a:lnSpc>
                <a:spcPts val="3919"/>
              </a:lnSpc>
            </a:pPr>
            <a:r>
              <a:rPr lang="en-US" sz="2799">
                <a:solidFill>
                  <a:srgbClr val="F2F1FF"/>
                </a:solidFill>
                <a:latin typeface="Gotham"/>
                <a:ea typeface="Gotham"/>
                <a:cs typeface="Gotham"/>
                <a:sym typeface="Gotham"/>
              </a:rPr>
              <a:t>Represent</a:t>
            </a:r>
          </a:p>
          <a:p>
            <a:pPr algn="ctr">
              <a:lnSpc>
                <a:spcPts val="3919"/>
              </a:lnSpc>
            </a:pPr>
            <a:r>
              <a:rPr lang="en-US" sz="2799">
                <a:solidFill>
                  <a:srgbClr val="F2F1FF"/>
                </a:solidFill>
                <a:latin typeface="Gotham"/>
                <a:ea typeface="Gotham"/>
                <a:cs typeface="Gotham"/>
                <a:sym typeface="Gotham"/>
              </a:rPr>
              <a:t>B</a:t>
            </a:r>
          </a:p>
        </p:txBody>
      </p:sp>
      <p:sp>
        <p:nvSpPr>
          <p:cNvPr name="TextBox 12" id="12"/>
          <p:cNvSpPr txBox="true"/>
          <p:nvPr/>
        </p:nvSpPr>
        <p:spPr>
          <a:xfrm rot="0">
            <a:off x="3874384" y="1235633"/>
            <a:ext cx="10539232" cy="1758950"/>
          </a:xfrm>
          <a:prstGeom prst="rect">
            <a:avLst/>
          </a:prstGeom>
        </p:spPr>
        <p:txBody>
          <a:bodyPr anchor="t" rtlCol="false" tIns="0" lIns="0" bIns="0" rIns="0">
            <a:spAutoFit/>
          </a:bodyPr>
          <a:lstStyle/>
          <a:p>
            <a:pPr algn="ctr">
              <a:lnSpc>
                <a:spcPts val="7000"/>
              </a:lnSpc>
            </a:pPr>
            <a:r>
              <a:rPr lang="en-US" b="true" sz="5000">
                <a:solidFill>
                  <a:srgbClr val="F2F1FF"/>
                </a:solidFill>
                <a:latin typeface="Gotham Bold"/>
                <a:ea typeface="Gotham Bold"/>
                <a:cs typeface="Gotham Bold"/>
                <a:sym typeface="Gotham Bold"/>
              </a:rPr>
              <a:t>Some Visual Representation of Images from the Dataset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4775215" y="0"/>
            <a:ext cx="3512785" cy="1475370"/>
          </a:xfrm>
          <a:custGeom>
            <a:avLst/>
            <a:gdLst/>
            <a:ahLst/>
            <a:cxnLst/>
            <a:rect r="r" b="b" t="t" l="l"/>
            <a:pathLst>
              <a:path h="1475370" w="3512785">
                <a:moveTo>
                  <a:pt x="0" y="1475370"/>
                </a:moveTo>
                <a:lnTo>
                  <a:pt x="3512785" y="1475370"/>
                </a:lnTo>
                <a:lnTo>
                  <a:pt x="3512785" y="0"/>
                </a:lnTo>
                <a:lnTo>
                  <a:pt x="0" y="0"/>
                </a:lnTo>
                <a:lnTo>
                  <a:pt x="0" y="147537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791930" y="737685"/>
            <a:ext cx="12316660" cy="1677045"/>
            <a:chOff x="0" y="0"/>
            <a:chExt cx="3243894" cy="441691"/>
          </a:xfrm>
        </p:grpSpPr>
        <p:sp>
          <p:nvSpPr>
            <p:cNvPr name="Freeform 4" id="4"/>
            <p:cNvSpPr/>
            <p:nvPr/>
          </p:nvSpPr>
          <p:spPr>
            <a:xfrm flipH="false" flipV="false" rot="0">
              <a:off x="0" y="0"/>
              <a:ext cx="3243894" cy="441691"/>
            </a:xfrm>
            <a:custGeom>
              <a:avLst/>
              <a:gdLst/>
              <a:ahLst/>
              <a:cxnLst/>
              <a:rect r="r" b="b" t="t" l="l"/>
              <a:pathLst>
                <a:path h="441691" w="3243894">
                  <a:moveTo>
                    <a:pt x="12571" y="0"/>
                  </a:moveTo>
                  <a:lnTo>
                    <a:pt x="3231323" y="0"/>
                  </a:lnTo>
                  <a:cubicBezTo>
                    <a:pt x="3238266" y="0"/>
                    <a:pt x="3243894" y="5628"/>
                    <a:pt x="3243894" y="12571"/>
                  </a:cubicBezTo>
                  <a:lnTo>
                    <a:pt x="3243894" y="429119"/>
                  </a:lnTo>
                  <a:cubicBezTo>
                    <a:pt x="3243894" y="432454"/>
                    <a:pt x="3242570" y="435651"/>
                    <a:pt x="3240212" y="438009"/>
                  </a:cubicBezTo>
                  <a:cubicBezTo>
                    <a:pt x="3237854" y="440366"/>
                    <a:pt x="3234657" y="441691"/>
                    <a:pt x="3231323" y="441691"/>
                  </a:cubicBezTo>
                  <a:lnTo>
                    <a:pt x="12571" y="441691"/>
                  </a:lnTo>
                  <a:cubicBezTo>
                    <a:pt x="9237" y="441691"/>
                    <a:pt x="6040" y="440366"/>
                    <a:pt x="3682" y="438009"/>
                  </a:cubicBezTo>
                  <a:cubicBezTo>
                    <a:pt x="1324" y="435651"/>
                    <a:pt x="0" y="432454"/>
                    <a:pt x="0" y="429119"/>
                  </a:cubicBezTo>
                  <a:lnTo>
                    <a:pt x="0" y="12571"/>
                  </a:lnTo>
                  <a:cubicBezTo>
                    <a:pt x="0" y="9237"/>
                    <a:pt x="1324" y="6040"/>
                    <a:pt x="3682" y="3682"/>
                  </a:cubicBezTo>
                  <a:cubicBezTo>
                    <a:pt x="6040" y="1324"/>
                    <a:pt x="9237" y="0"/>
                    <a:pt x="12571" y="0"/>
                  </a:cubicBezTo>
                  <a:close/>
                </a:path>
              </a:pathLst>
            </a:custGeom>
            <a:solidFill>
              <a:srgbClr val="4D4A7D"/>
            </a:solidFill>
          </p:spPr>
        </p:sp>
        <p:sp>
          <p:nvSpPr>
            <p:cNvPr name="TextBox 5" id="5"/>
            <p:cNvSpPr txBox="true"/>
            <p:nvPr/>
          </p:nvSpPr>
          <p:spPr>
            <a:xfrm>
              <a:off x="0" y="-38100"/>
              <a:ext cx="3243894" cy="479791"/>
            </a:xfrm>
            <a:prstGeom prst="rect">
              <a:avLst/>
            </a:prstGeom>
          </p:spPr>
          <p:txBody>
            <a:bodyPr anchor="ctr" rtlCol="false" tIns="50800" lIns="50800" bIns="50800" rIns="50800"/>
            <a:lstStyle/>
            <a:p>
              <a:pPr algn="just">
                <a:lnSpc>
                  <a:spcPts val="2659"/>
                </a:lnSpc>
                <a:spcBef>
                  <a:spcPct val="0"/>
                </a:spcBef>
              </a:pPr>
            </a:p>
          </p:txBody>
        </p:sp>
      </p:grpSp>
      <p:sp>
        <p:nvSpPr>
          <p:cNvPr name="Freeform 6" id="6"/>
          <p:cNvSpPr/>
          <p:nvPr/>
        </p:nvSpPr>
        <p:spPr>
          <a:xfrm flipH="true" flipV="false" rot="0">
            <a:off x="14314668" y="9258300"/>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17744" y="2695698"/>
            <a:ext cx="14665033" cy="6562602"/>
          </a:xfrm>
          <a:custGeom>
            <a:avLst/>
            <a:gdLst/>
            <a:ahLst/>
            <a:cxnLst/>
            <a:rect r="r" b="b" t="t" l="l"/>
            <a:pathLst>
              <a:path h="6562602" w="14665033">
                <a:moveTo>
                  <a:pt x="0" y="0"/>
                </a:moveTo>
                <a:lnTo>
                  <a:pt x="14665033" y="0"/>
                </a:lnTo>
                <a:lnTo>
                  <a:pt x="14665033" y="6562602"/>
                </a:lnTo>
                <a:lnTo>
                  <a:pt x="0" y="6562602"/>
                </a:lnTo>
                <a:lnTo>
                  <a:pt x="0" y="0"/>
                </a:lnTo>
                <a:close/>
              </a:path>
            </a:pathLst>
          </a:custGeom>
          <a:blipFill>
            <a:blip r:embed="rId6"/>
            <a:stretch>
              <a:fillRect l="0" t="0" r="0" b="0"/>
            </a:stretch>
          </a:blipFill>
        </p:spPr>
      </p:sp>
      <p:sp>
        <p:nvSpPr>
          <p:cNvPr name="TextBox 8" id="8"/>
          <p:cNvSpPr txBox="true"/>
          <p:nvPr/>
        </p:nvSpPr>
        <p:spPr>
          <a:xfrm rot="0">
            <a:off x="4215525" y="1133475"/>
            <a:ext cx="10893066" cy="1113790"/>
          </a:xfrm>
          <a:prstGeom prst="rect">
            <a:avLst/>
          </a:prstGeom>
        </p:spPr>
        <p:txBody>
          <a:bodyPr anchor="t" rtlCol="false" tIns="0" lIns="0" bIns="0" rIns="0">
            <a:spAutoFit/>
          </a:bodyPr>
          <a:lstStyle/>
          <a:p>
            <a:pPr algn="l">
              <a:lnSpc>
                <a:spcPts val="8480"/>
              </a:lnSpc>
            </a:pPr>
            <a:r>
              <a:rPr lang="en-US" sz="8000" b="true">
                <a:solidFill>
                  <a:srgbClr val="F2F1FF"/>
                </a:solidFill>
                <a:latin typeface="Gotham Bold"/>
                <a:ea typeface="Gotham Bold"/>
                <a:cs typeface="Gotham Bold"/>
                <a:sym typeface="Gotham Bold"/>
              </a:rPr>
              <a:t>Working of CNN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070615" y="1883"/>
            <a:ext cx="6381347" cy="2053633"/>
          </a:xfrm>
          <a:custGeom>
            <a:avLst/>
            <a:gdLst/>
            <a:ahLst/>
            <a:cxnLst/>
            <a:rect r="r" b="b" t="t" l="l"/>
            <a:pathLst>
              <a:path h="2053633" w="6381347">
                <a:moveTo>
                  <a:pt x="0" y="2053634"/>
                </a:moveTo>
                <a:lnTo>
                  <a:pt x="6381346" y="2053634"/>
                </a:lnTo>
                <a:lnTo>
                  <a:pt x="6381346" y="0"/>
                </a:lnTo>
                <a:lnTo>
                  <a:pt x="0" y="0"/>
                </a:lnTo>
                <a:lnTo>
                  <a:pt x="0" y="205363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4314668" y="8615835"/>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699436" y="1083967"/>
            <a:ext cx="8889128" cy="2047875"/>
          </a:xfrm>
          <a:prstGeom prst="rect">
            <a:avLst/>
          </a:prstGeom>
        </p:spPr>
        <p:txBody>
          <a:bodyPr anchor="t" rtlCol="false" tIns="0" lIns="0" bIns="0" rIns="0">
            <a:spAutoFit/>
          </a:bodyPr>
          <a:lstStyle/>
          <a:p>
            <a:pPr algn="ctr">
              <a:lnSpc>
                <a:spcPts val="7950"/>
              </a:lnSpc>
            </a:pPr>
            <a:r>
              <a:rPr lang="en-US" sz="7500" b="true">
                <a:solidFill>
                  <a:srgbClr val="4D4A7D"/>
                </a:solidFill>
                <a:latin typeface="Gotham Bold"/>
                <a:ea typeface="Gotham Bold"/>
                <a:cs typeface="Gotham Bold"/>
                <a:sym typeface="Gotham Bold"/>
              </a:rPr>
              <a:t>Phases of this Project</a:t>
            </a:r>
          </a:p>
        </p:txBody>
      </p:sp>
      <p:grpSp>
        <p:nvGrpSpPr>
          <p:cNvPr name="Group 5" id="5"/>
          <p:cNvGrpSpPr/>
          <p:nvPr/>
        </p:nvGrpSpPr>
        <p:grpSpPr>
          <a:xfrm rot="0">
            <a:off x="2736217" y="3571091"/>
            <a:ext cx="5971032" cy="1803788"/>
            <a:chOff x="0" y="0"/>
            <a:chExt cx="1572617" cy="475072"/>
          </a:xfrm>
        </p:grpSpPr>
        <p:sp>
          <p:nvSpPr>
            <p:cNvPr name="Freeform 6" id="6"/>
            <p:cNvSpPr/>
            <p:nvPr/>
          </p:nvSpPr>
          <p:spPr>
            <a:xfrm flipH="false" flipV="false" rot="0">
              <a:off x="0" y="0"/>
              <a:ext cx="1572617" cy="475072"/>
            </a:xfrm>
            <a:custGeom>
              <a:avLst/>
              <a:gdLst/>
              <a:ahLst/>
              <a:cxnLst/>
              <a:rect r="r" b="b" t="t" l="l"/>
              <a:pathLst>
                <a:path h="475072" w="1572617">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solidFill>
              <a:srgbClr val="4D4A7D"/>
            </a:solidFill>
          </p:spPr>
        </p:sp>
        <p:sp>
          <p:nvSpPr>
            <p:cNvPr name="TextBox 7" id="7"/>
            <p:cNvSpPr txBox="true"/>
            <p:nvPr/>
          </p:nvSpPr>
          <p:spPr>
            <a:xfrm>
              <a:off x="0" y="-38100"/>
              <a:ext cx="1572617" cy="513172"/>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3514384" y="4104689"/>
            <a:ext cx="4414698" cy="547370"/>
          </a:xfrm>
          <a:prstGeom prst="rect">
            <a:avLst/>
          </a:prstGeom>
        </p:spPr>
        <p:txBody>
          <a:bodyPr anchor="t" rtlCol="false" tIns="0" lIns="0" bIns="0" rIns="0">
            <a:spAutoFit/>
          </a:bodyPr>
          <a:lstStyle/>
          <a:p>
            <a:pPr algn="ctr">
              <a:lnSpc>
                <a:spcPts val="4480"/>
              </a:lnSpc>
            </a:pPr>
            <a:r>
              <a:rPr lang="en-US" sz="3200">
                <a:solidFill>
                  <a:srgbClr val="F2F1FF"/>
                </a:solidFill>
                <a:latin typeface="Gotham"/>
                <a:ea typeface="Gotham"/>
                <a:cs typeface="Gotham"/>
                <a:sym typeface="Gotham"/>
              </a:rPr>
              <a:t>Loading/Resizing</a:t>
            </a:r>
          </a:p>
        </p:txBody>
      </p:sp>
      <p:grpSp>
        <p:nvGrpSpPr>
          <p:cNvPr name="Group 9" id="9"/>
          <p:cNvGrpSpPr/>
          <p:nvPr/>
        </p:nvGrpSpPr>
        <p:grpSpPr>
          <a:xfrm rot="0">
            <a:off x="2736217" y="5879703"/>
            <a:ext cx="5971032" cy="1803788"/>
            <a:chOff x="0" y="0"/>
            <a:chExt cx="1572617" cy="475072"/>
          </a:xfrm>
        </p:grpSpPr>
        <p:sp>
          <p:nvSpPr>
            <p:cNvPr name="Freeform 10" id="10"/>
            <p:cNvSpPr/>
            <p:nvPr/>
          </p:nvSpPr>
          <p:spPr>
            <a:xfrm flipH="false" flipV="false" rot="0">
              <a:off x="0" y="0"/>
              <a:ext cx="1572617" cy="475072"/>
            </a:xfrm>
            <a:custGeom>
              <a:avLst/>
              <a:gdLst/>
              <a:ahLst/>
              <a:cxnLst/>
              <a:rect r="r" b="b" t="t" l="l"/>
              <a:pathLst>
                <a:path h="475072" w="1572617">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solidFill>
              <a:srgbClr val="000000">
                <a:alpha val="0"/>
              </a:srgbClr>
            </a:solidFill>
            <a:ln w="47625" cap="sq">
              <a:solidFill>
                <a:srgbClr val="4D4A7D"/>
              </a:solidFill>
              <a:prstDash val="solid"/>
              <a:miter/>
            </a:ln>
          </p:spPr>
        </p:sp>
        <p:sp>
          <p:nvSpPr>
            <p:cNvPr name="TextBox 11" id="11"/>
            <p:cNvSpPr txBox="true"/>
            <p:nvPr/>
          </p:nvSpPr>
          <p:spPr>
            <a:xfrm>
              <a:off x="0" y="-38100"/>
              <a:ext cx="1572617" cy="513172"/>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3419485" y="6193587"/>
            <a:ext cx="4604497" cy="1109345"/>
          </a:xfrm>
          <a:prstGeom prst="rect">
            <a:avLst/>
          </a:prstGeom>
        </p:spPr>
        <p:txBody>
          <a:bodyPr anchor="t" rtlCol="false" tIns="0" lIns="0" bIns="0" rIns="0">
            <a:spAutoFit/>
          </a:bodyPr>
          <a:lstStyle/>
          <a:p>
            <a:pPr algn="ctr">
              <a:lnSpc>
                <a:spcPts val="4480"/>
              </a:lnSpc>
            </a:pPr>
            <a:r>
              <a:rPr lang="en-US" sz="3200">
                <a:solidFill>
                  <a:srgbClr val="4D4A7D"/>
                </a:solidFill>
                <a:latin typeface="Gotham"/>
                <a:ea typeface="Gotham"/>
                <a:cs typeface="Gotham"/>
                <a:sym typeface="Gotham"/>
              </a:rPr>
              <a:t>Convolutions/</a:t>
            </a:r>
          </a:p>
          <a:p>
            <a:pPr algn="ctr">
              <a:lnSpc>
                <a:spcPts val="4480"/>
              </a:lnSpc>
            </a:pPr>
            <a:r>
              <a:rPr lang="en-US" sz="3200">
                <a:solidFill>
                  <a:srgbClr val="4D4A7D"/>
                </a:solidFill>
                <a:latin typeface="Gotham"/>
                <a:ea typeface="Gotham"/>
                <a:cs typeface="Gotham"/>
                <a:sym typeface="Gotham"/>
              </a:rPr>
              <a:t>Backpropogation</a:t>
            </a:r>
          </a:p>
        </p:txBody>
      </p:sp>
      <p:grpSp>
        <p:nvGrpSpPr>
          <p:cNvPr name="Group 13" id="13"/>
          <p:cNvGrpSpPr/>
          <p:nvPr/>
        </p:nvGrpSpPr>
        <p:grpSpPr>
          <a:xfrm rot="0">
            <a:off x="9580751" y="3571091"/>
            <a:ext cx="5971032" cy="1803788"/>
            <a:chOff x="0" y="0"/>
            <a:chExt cx="1572617" cy="475072"/>
          </a:xfrm>
        </p:grpSpPr>
        <p:sp>
          <p:nvSpPr>
            <p:cNvPr name="Freeform 14" id="14"/>
            <p:cNvSpPr/>
            <p:nvPr/>
          </p:nvSpPr>
          <p:spPr>
            <a:xfrm flipH="false" flipV="false" rot="0">
              <a:off x="0" y="0"/>
              <a:ext cx="1572617" cy="475072"/>
            </a:xfrm>
            <a:custGeom>
              <a:avLst/>
              <a:gdLst/>
              <a:ahLst/>
              <a:cxnLst/>
              <a:rect r="r" b="b" t="t" l="l"/>
              <a:pathLst>
                <a:path h="475072" w="1572617">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solidFill>
              <a:srgbClr val="000000">
                <a:alpha val="0"/>
              </a:srgbClr>
            </a:solidFill>
            <a:ln w="47625" cap="sq">
              <a:solidFill>
                <a:srgbClr val="4D4A7D"/>
              </a:solidFill>
              <a:prstDash val="solid"/>
              <a:miter/>
            </a:ln>
          </p:spPr>
        </p:sp>
        <p:sp>
          <p:nvSpPr>
            <p:cNvPr name="TextBox 15" id="15"/>
            <p:cNvSpPr txBox="true"/>
            <p:nvPr/>
          </p:nvSpPr>
          <p:spPr>
            <a:xfrm>
              <a:off x="0" y="-38100"/>
              <a:ext cx="1572617" cy="513172"/>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0071836" y="4104689"/>
            <a:ext cx="4988862" cy="547370"/>
          </a:xfrm>
          <a:prstGeom prst="rect">
            <a:avLst/>
          </a:prstGeom>
        </p:spPr>
        <p:txBody>
          <a:bodyPr anchor="t" rtlCol="false" tIns="0" lIns="0" bIns="0" rIns="0">
            <a:spAutoFit/>
          </a:bodyPr>
          <a:lstStyle/>
          <a:p>
            <a:pPr algn="ctr">
              <a:lnSpc>
                <a:spcPts val="4480"/>
              </a:lnSpc>
            </a:pPr>
            <a:r>
              <a:rPr lang="en-US" sz="3200">
                <a:solidFill>
                  <a:srgbClr val="4D4A7D"/>
                </a:solidFill>
                <a:latin typeface="Gotham"/>
                <a:ea typeface="Gotham"/>
                <a:cs typeface="Gotham"/>
                <a:sym typeface="Gotham"/>
              </a:rPr>
              <a:t>Agumentation/Blancing</a:t>
            </a:r>
          </a:p>
        </p:txBody>
      </p:sp>
      <p:grpSp>
        <p:nvGrpSpPr>
          <p:cNvPr name="Group 17" id="17"/>
          <p:cNvGrpSpPr/>
          <p:nvPr/>
        </p:nvGrpSpPr>
        <p:grpSpPr>
          <a:xfrm rot="0">
            <a:off x="9580751" y="5879703"/>
            <a:ext cx="5971032" cy="1803788"/>
            <a:chOff x="0" y="0"/>
            <a:chExt cx="1572617" cy="475072"/>
          </a:xfrm>
        </p:grpSpPr>
        <p:sp>
          <p:nvSpPr>
            <p:cNvPr name="Freeform 18" id="18"/>
            <p:cNvSpPr/>
            <p:nvPr/>
          </p:nvSpPr>
          <p:spPr>
            <a:xfrm flipH="false" flipV="false" rot="0">
              <a:off x="0" y="0"/>
              <a:ext cx="1572617" cy="475072"/>
            </a:xfrm>
            <a:custGeom>
              <a:avLst/>
              <a:gdLst/>
              <a:ahLst/>
              <a:cxnLst/>
              <a:rect r="r" b="b" t="t" l="l"/>
              <a:pathLst>
                <a:path h="475072" w="1572617">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solidFill>
              <a:srgbClr val="4D4A7D"/>
            </a:solidFill>
          </p:spPr>
        </p:sp>
        <p:sp>
          <p:nvSpPr>
            <p:cNvPr name="TextBox 19" id="19"/>
            <p:cNvSpPr txBox="true"/>
            <p:nvPr/>
          </p:nvSpPr>
          <p:spPr>
            <a:xfrm>
              <a:off x="0" y="-38100"/>
              <a:ext cx="1572617" cy="513172"/>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10358918" y="6413302"/>
            <a:ext cx="4414698" cy="547370"/>
          </a:xfrm>
          <a:prstGeom prst="rect">
            <a:avLst/>
          </a:prstGeom>
        </p:spPr>
        <p:txBody>
          <a:bodyPr anchor="t" rtlCol="false" tIns="0" lIns="0" bIns="0" rIns="0">
            <a:spAutoFit/>
          </a:bodyPr>
          <a:lstStyle/>
          <a:p>
            <a:pPr algn="ctr">
              <a:lnSpc>
                <a:spcPts val="4480"/>
              </a:lnSpc>
            </a:pPr>
            <a:r>
              <a:rPr lang="en-US" sz="3200">
                <a:solidFill>
                  <a:srgbClr val="F2F1FF"/>
                </a:solidFill>
                <a:latin typeface="Gotham"/>
                <a:ea typeface="Gotham"/>
                <a:cs typeface="Gotham"/>
                <a:sym typeface="Gotham"/>
              </a:rPr>
              <a:t>Training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070615" y="1883"/>
            <a:ext cx="6381347" cy="2053633"/>
          </a:xfrm>
          <a:custGeom>
            <a:avLst/>
            <a:gdLst/>
            <a:ahLst/>
            <a:cxnLst/>
            <a:rect r="r" b="b" t="t" l="l"/>
            <a:pathLst>
              <a:path h="2053633" w="6381347">
                <a:moveTo>
                  <a:pt x="0" y="2053634"/>
                </a:moveTo>
                <a:lnTo>
                  <a:pt x="6381346" y="2053634"/>
                </a:lnTo>
                <a:lnTo>
                  <a:pt x="6381346" y="0"/>
                </a:lnTo>
                <a:lnTo>
                  <a:pt x="0" y="0"/>
                </a:lnTo>
                <a:lnTo>
                  <a:pt x="0" y="205363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296656" y="2055517"/>
            <a:ext cx="4291444" cy="3596351"/>
          </a:xfrm>
          <a:custGeom>
            <a:avLst/>
            <a:gdLst/>
            <a:ahLst/>
            <a:cxnLst/>
            <a:rect r="r" b="b" t="t" l="l"/>
            <a:pathLst>
              <a:path h="3596351" w="4291444">
                <a:moveTo>
                  <a:pt x="0" y="0"/>
                </a:moveTo>
                <a:lnTo>
                  <a:pt x="4291444" y="0"/>
                </a:lnTo>
                <a:lnTo>
                  <a:pt x="4291444" y="3596351"/>
                </a:lnTo>
                <a:lnTo>
                  <a:pt x="0" y="3596351"/>
                </a:lnTo>
                <a:lnTo>
                  <a:pt x="0" y="0"/>
                </a:lnTo>
                <a:close/>
              </a:path>
            </a:pathLst>
          </a:custGeom>
          <a:blipFill>
            <a:blip r:embed="rId4"/>
            <a:stretch>
              <a:fillRect l="0" t="0" r="0" b="0"/>
            </a:stretch>
          </a:blipFill>
        </p:spPr>
      </p:sp>
      <p:sp>
        <p:nvSpPr>
          <p:cNvPr name="Freeform 4" id="4"/>
          <p:cNvSpPr/>
          <p:nvPr/>
        </p:nvSpPr>
        <p:spPr>
          <a:xfrm flipH="false" flipV="false" rot="0">
            <a:off x="12296656" y="5816522"/>
            <a:ext cx="4258471" cy="3441778"/>
          </a:xfrm>
          <a:custGeom>
            <a:avLst/>
            <a:gdLst/>
            <a:ahLst/>
            <a:cxnLst/>
            <a:rect r="r" b="b" t="t" l="l"/>
            <a:pathLst>
              <a:path h="3441778" w="4258471">
                <a:moveTo>
                  <a:pt x="0" y="0"/>
                </a:moveTo>
                <a:lnTo>
                  <a:pt x="4258471" y="0"/>
                </a:lnTo>
                <a:lnTo>
                  <a:pt x="4258471" y="3441778"/>
                </a:lnTo>
                <a:lnTo>
                  <a:pt x="0" y="3441778"/>
                </a:lnTo>
                <a:lnTo>
                  <a:pt x="0" y="0"/>
                </a:lnTo>
                <a:close/>
              </a:path>
            </a:pathLst>
          </a:custGeom>
          <a:blipFill>
            <a:blip r:embed="rId5"/>
            <a:stretch>
              <a:fillRect l="0" t="0" r="0" b="0"/>
            </a:stretch>
          </a:blipFill>
        </p:spPr>
      </p:sp>
      <p:sp>
        <p:nvSpPr>
          <p:cNvPr name="TextBox 5" id="5"/>
          <p:cNvSpPr txBox="true"/>
          <p:nvPr/>
        </p:nvSpPr>
        <p:spPr>
          <a:xfrm rot="0">
            <a:off x="4699436" y="1026817"/>
            <a:ext cx="8889128" cy="1374775"/>
          </a:xfrm>
          <a:prstGeom prst="rect">
            <a:avLst/>
          </a:prstGeom>
        </p:spPr>
        <p:txBody>
          <a:bodyPr anchor="t" rtlCol="false" tIns="0" lIns="0" bIns="0" rIns="0">
            <a:spAutoFit/>
          </a:bodyPr>
          <a:lstStyle/>
          <a:p>
            <a:pPr algn="ctr">
              <a:lnSpc>
                <a:spcPts val="5300"/>
              </a:lnSpc>
            </a:pPr>
            <a:r>
              <a:rPr lang="en-US" sz="5000" b="true">
                <a:solidFill>
                  <a:srgbClr val="4D4A7D"/>
                </a:solidFill>
                <a:latin typeface="Gotham Bold"/>
                <a:ea typeface="Gotham Bold"/>
                <a:cs typeface="Gotham Bold"/>
                <a:sym typeface="Gotham Bold"/>
              </a:rPr>
              <a:t>Before Agumentation of Dataset</a:t>
            </a:r>
          </a:p>
        </p:txBody>
      </p:sp>
      <p:sp>
        <p:nvSpPr>
          <p:cNvPr name="TextBox 6" id="6"/>
          <p:cNvSpPr txBox="true"/>
          <p:nvPr/>
        </p:nvSpPr>
        <p:spPr>
          <a:xfrm rot="0">
            <a:off x="1310731" y="2740004"/>
            <a:ext cx="10228842" cy="2662302"/>
          </a:xfrm>
          <a:prstGeom prst="rect">
            <a:avLst/>
          </a:prstGeom>
        </p:spPr>
        <p:txBody>
          <a:bodyPr anchor="t" rtlCol="false" tIns="0" lIns="0" bIns="0" rIns="0">
            <a:spAutoFit/>
          </a:bodyPr>
          <a:lstStyle/>
          <a:p>
            <a:pPr algn="l" marL="669286" indent="-334643" lvl="1">
              <a:lnSpc>
                <a:spcPts val="5331"/>
              </a:lnSpc>
              <a:buFont typeface="Arial"/>
              <a:buChar char="•"/>
            </a:pPr>
            <a:r>
              <a:rPr lang="en-US" sz="3099">
                <a:solidFill>
                  <a:srgbClr val="4D4A7D"/>
                </a:solidFill>
                <a:latin typeface="Gotham"/>
                <a:ea typeface="Gotham"/>
                <a:cs typeface="Gotham"/>
                <a:sym typeface="Gotham"/>
              </a:rPr>
              <a:t>The model’s training accuracy was roughly 92%.</a:t>
            </a:r>
          </a:p>
          <a:p>
            <a:pPr algn="l" marL="669286" indent="-334643" lvl="1">
              <a:lnSpc>
                <a:spcPts val="5331"/>
              </a:lnSpc>
              <a:buFont typeface="Arial"/>
              <a:buChar char="•"/>
            </a:pPr>
            <a:r>
              <a:rPr lang="en-US" sz="3099">
                <a:solidFill>
                  <a:srgbClr val="4D4A7D"/>
                </a:solidFill>
                <a:latin typeface="Gotham"/>
                <a:ea typeface="Gotham"/>
                <a:cs typeface="Gotham"/>
                <a:sym typeface="Gotham"/>
              </a:rPr>
              <a:t>But I was getting test accuracies not up to 30% even after trying several times.</a:t>
            </a:r>
          </a:p>
          <a:p>
            <a:pPr algn="l">
              <a:lnSpc>
                <a:spcPts val="5331"/>
              </a:lnSpc>
            </a:pPr>
          </a:p>
        </p:txBody>
      </p:sp>
      <p:sp>
        <p:nvSpPr>
          <p:cNvPr name="TextBox 7" id="7"/>
          <p:cNvSpPr txBox="true"/>
          <p:nvPr/>
        </p:nvSpPr>
        <p:spPr>
          <a:xfrm rot="0">
            <a:off x="1028700" y="5147671"/>
            <a:ext cx="8889128" cy="556895"/>
          </a:xfrm>
          <a:prstGeom prst="rect">
            <a:avLst/>
          </a:prstGeom>
        </p:spPr>
        <p:txBody>
          <a:bodyPr anchor="t" rtlCol="false" tIns="0" lIns="0" bIns="0" rIns="0">
            <a:spAutoFit/>
          </a:bodyPr>
          <a:lstStyle/>
          <a:p>
            <a:pPr algn="ctr">
              <a:lnSpc>
                <a:spcPts val="4240"/>
              </a:lnSpc>
            </a:pPr>
            <a:r>
              <a:rPr lang="en-US" sz="4000" b="true">
                <a:solidFill>
                  <a:srgbClr val="4D4A7D"/>
                </a:solidFill>
                <a:latin typeface="Gotham Bold"/>
                <a:ea typeface="Gotham Bold"/>
                <a:cs typeface="Gotham Bold"/>
                <a:sym typeface="Gotham Bold"/>
              </a:rPr>
              <a:t>What was the Issue</a:t>
            </a:r>
          </a:p>
        </p:txBody>
      </p:sp>
      <p:sp>
        <p:nvSpPr>
          <p:cNvPr name="TextBox 8" id="8"/>
          <p:cNvSpPr txBox="true"/>
          <p:nvPr/>
        </p:nvSpPr>
        <p:spPr>
          <a:xfrm rot="0">
            <a:off x="1310731" y="6047466"/>
            <a:ext cx="10228842" cy="2662302"/>
          </a:xfrm>
          <a:prstGeom prst="rect">
            <a:avLst/>
          </a:prstGeom>
        </p:spPr>
        <p:txBody>
          <a:bodyPr anchor="t" rtlCol="false" tIns="0" lIns="0" bIns="0" rIns="0">
            <a:spAutoFit/>
          </a:bodyPr>
          <a:lstStyle/>
          <a:p>
            <a:pPr algn="just">
              <a:lnSpc>
                <a:spcPts val="5331"/>
              </a:lnSpc>
            </a:pPr>
            <a:r>
              <a:rPr lang="en-US" sz="3099">
                <a:solidFill>
                  <a:srgbClr val="4D4A7D"/>
                </a:solidFill>
                <a:latin typeface="Gotham"/>
                <a:ea typeface="Gotham"/>
                <a:cs typeface="Gotham"/>
                <a:sym typeface="Gotham"/>
              </a:rPr>
              <a:t>I observed that my dataset is imbalanced, which is likely why the model achieved high training accuracy but poor test accuracy. This phenomenon is known as </a:t>
            </a:r>
            <a:r>
              <a:rPr lang="en-US" sz="3099" b="true">
                <a:solidFill>
                  <a:srgbClr val="4D4A7D"/>
                </a:solidFill>
                <a:latin typeface="Gotham Bold"/>
                <a:ea typeface="Gotham Bold"/>
                <a:cs typeface="Gotham Bold"/>
                <a:sym typeface="Gotham Bold"/>
              </a:rPr>
              <a:t>Overfitting</a:t>
            </a:r>
            <a:r>
              <a:rPr lang="en-US" sz="3099">
                <a:solidFill>
                  <a:srgbClr val="4D4A7D"/>
                </a:solidFill>
                <a:latin typeface="Gotham"/>
                <a:ea typeface="Gotham"/>
                <a:cs typeface="Gotham"/>
                <a:sym typeface="Gotham"/>
              </a:rPr>
              <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36448" y="3739116"/>
            <a:ext cx="4574432" cy="4688719"/>
            <a:chOff x="0" y="0"/>
            <a:chExt cx="1204789" cy="1234889"/>
          </a:xfrm>
        </p:grpSpPr>
        <p:sp>
          <p:nvSpPr>
            <p:cNvPr name="Freeform 3" id="3"/>
            <p:cNvSpPr/>
            <p:nvPr/>
          </p:nvSpPr>
          <p:spPr>
            <a:xfrm flipH="false" flipV="false" rot="0">
              <a:off x="0" y="0"/>
              <a:ext cx="1204789" cy="1234889"/>
            </a:xfrm>
            <a:custGeom>
              <a:avLst/>
              <a:gdLst/>
              <a:ahLst/>
              <a:cxnLst/>
              <a:rect r="r" b="b" t="t" l="l"/>
              <a:pathLst>
                <a:path h="1234889" w="1204789">
                  <a:moveTo>
                    <a:pt x="33849" y="0"/>
                  </a:moveTo>
                  <a:lnTo>
                    <a:pt x="1170940" y="0"/>
                  </a:lnTo>
                  <a:cubicBezTo>
                    <a:pt x="1189634" y="0"/>
                    <a:pt x="1204789" y="15155"/>
                    <a:pt x="1204789" y="33849"/>
                  </a:cubicBezTo>
                  <a:lnTo>
                    <a:pt x="1204789" y="1201040"/>
                  </a:lnTo>
                  <a:cubicBezTo>
                    <a:pt x="1204789" y="1210018"/>
                    <a:pt x="1201223" y="1218627"/>
                    <a:pt x="1194875" y="1224975"/>
                  </a:cubicBezTo>
                  <a:cubicBezTo>
                    <a:pt x="1188527" y="1231323"/>
                    <a:pt x="1179917" y="1234889"/>
                    <a:pt x="1170940" y="1234889"/>
                  </a:cubicBezTo>
                  <a:lnTo>
                    <a:pt x="33849" y="1234889"/>
                  </a:lnTo>
                  <a:cubicBezTo>
                    <a:pt x="24871" y="1234889"/>
                    <a:pt x="16262" y="1231323"/>
                    <a:pt x="9914" y="1224975"/>
                  </a:cubicBezTo>
                  <a:cubicBezTo>
                    <a:pt x="3566" y="1218627"/>
                    <a:pt x="0" y="1210018"/>
                    <a:pt x="0" y="1201040"/>
                  </a:cubicBezTo>
                  <a:lnTo>
                    <a:pt x="0" y="33849"/>
                  </a:lnTo>
                  <a:cubicBezTo>
                    <a:pt x="0" y="24871"/>
                    <a:pt x="3566" y="16262"/>
                    <a:pt x="9914" y="9914"/>
                  </a:cubicBezTo>
                  <a:cubicBezTo>
                    <a:pt x="16262" y="3566"/>
                    <a:pt x="24871" y="0"/>
                    <a:pt x="33849" y="0"/>
                  </a:cubicBezTo>
                  <a:close/>
                </a:path>
              </a:pathLst>
            </a:custGeom>
            <a:solidFill>
              <a:srgbClr val="000000">
                <a:alpha val="0"/>
              </a:srgbClr>
            </a:solidFill>
            <a:ln w="47625" cap="sq">
              <a:solidFill>
                <a:srgbClr val="4D4A7D"/>
              </a:solidFill>
              <a:prstDash val="solid"/>
              <a:miter/>
            </a:ln>
          </p:spPr>
        </p:sp>
        <p:sp>
          <p:nvSpPr>
            <p:cNvPr name="TextBox 4" id="4"/>
            <p:cNvSpPr txBox="true"/>
            <p:nvPr/>
          </p:nvSpPr>
          <p:spPr>
            <a:xfrm>
              <a:off x="0" y="-38100"/>
              <a:ext cx="1204789" cy="127298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277120" y="3739116"/>
            <a:ext cx="4574432" cy="4688719"/>
            <a:chOff x="0" y="0"/>
            <a:chExt cx="1204789" cy="1234889"/>
          </a:xfrm>
        </p:grpSpPr>
        <p:sp>
          <p:nvSpPr>
            <p:cNvPr name="Freeform 6" id="6"/>
            <p:cNvSpPr/>
            <p:nvPr/>
          </p:nvSpPr>
          <p:spPr>
            <a:xfrm flipH="false" flipV="false" rot="0">
              <a:off x="0" y="0"/>
              <a:ext cx="1204789" cy="1234889"/>
            </a:xfrm>
            <a:custGeom>
              <a:avLst/>
              <a:gdLst/>
              <a:ahLst/>
              <a:cxnLst/>
              <a:rect r="r" b="b" t="t" l="l"/>
              <a:pathLst>
                <a:path h="1234889" w="1204789">
                  <a:moveTo>
                    <a:pt x="33849" y="0"/>
                  </a:moveTo>
                  <a:lnTo>
                    <a:pt x="1170940" y="0"/>
                  </a:lnTo>
                  <a:cubicBezTo>
                    <a:pt x="1189634" y="0"/>
                    <a:pt x="1204789" y="15155"/>
                    <a:pt x="1204789" y="33849"/>
                  </a:cubicBezTo>
                  <a:lnTo>
                    <a:pt x="1204789" y="1201040"/>
                  </a:lnTo>
                  <a:cubicBezTo>
                    <a:pt x="1204789" y="1210018"/>
                    <a:pt x="1201223" y="1218627"/>
                    <a:pt x="1194875" y="1224975"/>
                  </a:cubicBezTo>
                  <a:cubicBezTo>
                    <a:pt x="1188527" y="1231323"/>
                    <a:pt x="1179917" y="1234889"/>
                    <a:pt x="1170940" y="1234889"/>
                  </a:cubicBezTo>
                  <a:lnTo>
                    <a:pt x="33849" y="1234889"/>
                  </a:lnTo>
                  <a:cubicBezTo>
                    <a:pt x="24871" y="1234889"/>
                    <a:pt x="16262" y="1231323"/>
                    <a:pt x="9914" y="1224975"/>
                  </a:cubicBezTo>
                  <a:cubicBezTo>
                    <a:pt x="3566" y="1218627"/>
                    <a:pt x="0" y="1210018"/>
                    <a:pt x="0" y="1201040"/>
                  </a:cubicBezTo>
                  <a:lnTo>
                    <a:pt x="0" y="33849"/>
                  </a:lnTo>
                  <a:cubicBezTo>
                    <a:pt x="0" y="24871"/>
                    <a:pt x="3566" y="16262"/>
                    <a:pt x="9914" y="9914"/>
                  </a:cubicBezTo>
                  <a:cubicBezTo>
                    <a:pt x="16262" y="3566"/>
                    <a:pt x="24871" y="0"/>
                    <a:pt x="33849" y="0"/>
                  </a:cubicBezTo>
                  <a:close/>
                </a:path>
              </a:pathLst>
            </a:custGeom>
            <a:solidFill>
              <a:srgbClr val="000000">
                <a:alpha val="0"/>
              </a:srgbClr>
            </a:solidFill>
            <a:ln w="47625" cap="sq">
              <a:solidFill>
                <a:srgbClr val="4D4A7D"/>
              </a:solidFill>
              <a:prstDash val="solid"/>
              <a:miter/>
            </a:ln>
          </p:spPr>
        </p:sp>
        <p:sp>
          <p:nvSpPr>
            <p:cNvPr name="TextBox 7" id="7"/>
            <p:cNvSpPr txBox="true"/>
            <p:nvPr/>
          </p:nvSpPr>
          <p:spPr>
            <a:xfrm>
              <a:off x="0" y="-38100"/>
              <a:ext cx="1204789" cy="1272989"/>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4314668" y="8615835"/>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028700" y="1028700"/>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0" y="8008852"/>
            <a:ext cx="5695371" cy="2278148"/>
          </a:xfrm>
          <a:custGeom>
            <a:avLst/>
            <a:gdLst/>
            <a:ahLst/>
            <a:cxnLst/>
            <a:rect r="r" b="b" t="t" l="l"/>
            <a:pathLst>
              <a:path h="2278148" w="5695371">
                <a:moveTo>
                  <a:pt x="0" y="0"/>
                </a:moveTo>
                <a:lnTo>
                  <a:pt x="5695371" y="0"/>
                </a:lnTo>
                <a:lnTo>
                  <a:pt x="5695371" y="2278148"/>
                </a:lnTo>
                <a:lnTo>
                  <a:pt x="0" y="22781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658396" y="1028700"/>
            <a:ext cx="600904" cy="612032"/>
          </a:xfrm>
          <a:custGeom>
            <a:avLst/>
            <a:gdLst/>
            <a:ahLst/>
            <a:cxnLst/>
            <a:rect r="r" b="b" t="t" l="l"/>
            <a:pathLst>
              <a:path h="612032" w="600904">
                <a:moveTo>
                  <a:pt x="0" y="0"/>
                </a:moveTo>
                <a:lnTo>
                  <a:pt x="600904" y="0"/>
                </a:lnTo>
                <a:lnTo>
                  <a:pt x="600904" y="612032"/>
                </a:lnTo>
                <a:lnTo>
                  <a:pt x="0" y="6120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566316" y="1162050"/>
            <a:ext cx="8889128" cy="1334128"/>
          </a:xfrm>
          <a:prstGeom prst="rect">
            <a:avLst/>
          </a:prstGeom>
        </p:spPr>
        <p:txBody>
          <a:bodyPr anchor="t" rtlCol="false" tIns="0" lIns="0" bIns="0" rIns="0">
            <a:spAutoFit/>
          </a:bodyPr>
          <a:lstStyle/>
          <a:p>
            <a:pPr algn="ctr">
              <a:lnSpc>
                <a:spcPts val="10258"/>
              </a:lnSpc>
            </a:pPr>
            <a:r>
              <a:rPr lang="en-US" sz="9678">
                <a:solidFill>
                  <a:srgbClr val="4D4A7D"/>
                </a:solidFill>
                <a:latin typeface="Fredoka"/>
                <a:ea typeface="Fredoka"/>
                <a:cs typeface="Fredoka"/>
                <a:sym typeface="Fredoka"/>
              </a:rPr>
              <a:t>Problem </a:t>
            </a:r>
          </a:p>
        </p:txBody>
      </p:sp>
      <p:sp>
        <p:nvSpPr>
          <p:cNvPr name="TextBox 13" id="13"/>
          <p:cNvSpPr txBox="true"/>
          <p:nvPr/>
        </p:nvSpPr>
        <p:spPr>
          <a:xfrm rot="0">
            <a:off x="5099789" y="4110910"/>
            <a:ext cx="3247749" cy="3956050"/>
          </a:xfrm>
          <a:prstGeom prst="rect">
            <a:avLst/>
          </a:prstGeom>
        </p:spPr>
        <p:txBody>
          <a:bodyPr anchor="t" rtlCol="false" tIns="0" lIns="0" bIns="0" rIns="0">
            <a:spAutoFit/>
          </a:bodyPr>
          <a:lstStyle/>
          <a:p>
            <a:pPr algn="l" marL="539751" indent="-269876" lvl="1">
              <a:lnSpc>
                <a:spcPts val="3500"/>
              </a:lnSpc>
              <a:buFont typeface="Arial"/>
              <a:buChar char="•"/>
            </a:pPr>
            <a:r>
              <a:rPr lang="en-US" sz="2500">
                <a:solidFill>
                  <a:srgbClr val="4D4A7D"/>
                </a:solidFill>
                <a:latin typeface="Poppins"/>
                <a:ea typeface="Poppins"/>
                <a:cs typeface="Poppins"/>
                <a:sym typeface="Poppins"/>
              </a:rPr>
              <a:t>Using Bigger batch size with small Dateset.</a:t>
            </a:r>
          </a:p>
          <a:p>
            <a:pPr algn="l" marL="539751" indent="-269876" lvl="1">
              <a:lnSpc>
                <a:spcPts val="3500"/>
              </a:lnSpc>
              <a:buFont typeface="Arial"/>
              <a:buChar char="•"/>
            </a:pPr>
            <a:r>
              <a:rPr lang="en-US" sz="2500">
                <a:solidFill>
                  <a:srgbClr val="4D4A7D"/>
                </a:solidFill>
                <a:latin typeface="Poppins"/>
                <a:ea typeface="Poppins"/>
                <a:cs typeface="Poppins"/>
                <a:sym typeface="Poppins"/>
              </a:rPr>
              <a:t>Deminsion of the image is so small there we dont need more feature extractions</a:t>
            </a:r>
          </a:p>
        </p:txBody>
      </p:sp>
      <p:sp>
        <p:nvSpPr>
          <p:cNvPr name="TextBox 14" id="14"/>
          <p:cNvSpPr txBox="true"/>
          <p:nvPr/>
        </p:nvSpPr>
        <p:spPr>
          <a:xfrm rot="0">
            <a:off x="9940462" y="4110910"/>
            <a:ext cx="3247749" cy="3956050"/>
          </a:xfrm>
          <a:prstGeom prst="rect">
            <a:avLst/>
          </a:prstGeom>
        </p:spPr>
        <p:txBody>
          <a:bodyPr anchor="t" rtlCol="false" tIns="0" lIns="0" bIns="0" rIns="0">
            <a:spAutoFit/>
          </a:bodyPr>
          <a:lstStyle/>
          <a:p>
            <a:pPr algn="l" marL="539751" indent="-269876" lvl="1">
              <a:lnSpc>
                <a:spcPts val="3500"/>
              </a:lnSpc>
              <a:buFont typeface="Arial"/>
              <a:buChar char="•"/>
            </a:pPr>
            <a:r>
              <a:rPr lang="en-US" sz="2500">
                <a:solidFill>
                  <a:srgbClr val="4D4A7D"/>
                </a:solidFill>
                <a:latin typeface="Poppins"/>
                <a:ea typeface="Poppins"/>
                <a:cs typeface="Poppins"/>
                <a:sym typeface="Poppins"/>
              </a:rPr>
              <a:t>Imblancing in the Classes model traing better with bigger sample.</a:t>
            </a:r>
          </a:p>
          <a:p>
            <a:pPr algn="l" marL="539751" indent="-269876" lvl="1">
              <a:lnSpc>
                <a:spcPts val="3500"/>
              </a:lnSpc>
              <a:buFont typeface="Arial"/>
              <a:buChar char="•"/>
            </a:pPr>
            <a:r>
              <a:rPr lang="en-US" sz="2500">
                <a:solidFill>
                  <a:srgbClr val="4D4A7D"/>
                </a:solidFill>
                <a:latin typeface="Poppins"/>
                <a:ea typeface="Poppins"/>
                <a:cs typeface="Poppins"/>
                <a:sym typeface="Poppins"/>
              </a:rPr>
              <a:t>Overfitting of the dataset and need to be blanced.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4775215" y="0"/>
            <a:ext cx="3512785" cy="1475370"/>
          </a:xfrm>
          <a:custGeom>
            <a:avLst/>
            <a:gdLst/>
            <a:ahLst/>
            <a:cxnLst/>
            <a:rect r="r" b="b" t="t" l="l"/>
            <a:pathLst>
              <a:path h="1475370" w="3512785">
                <a:moveTo>
                  <a:pt x="0" y="1475370"/>
                </a:moveTo>
                <a:lnTo>
                  <a:pt x="3512785" y="1475370"/>
                </a:lnTo>
                <a:lnTo>
                  <a:pt x="3512785" y="0"/>
                </a:lnTo>
                <a:lnTo>
                  <a:pt x="0" y="0"/>
                </a:lnTo>
                <a:lnTo>
                  <a:pt x="0" y="147537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791930" y="728160"/>
            <a:ext cx="12316660" cy="1677045"/>
            <a:chOff x="0" y="0"/>
            <a:chExt cx="3243894" cy="441691"/>
          </a:xfrm>
        </p:grpSpPr>
        <p:sp>
          <p:nvSpPr>
            <p:cNvPr name="Freeform 4" id="4"/>
            <p:cNvSpPr/>
            <p:nvPr/>
          </p:nvSpPr>
          <p:spPr>
            <a:xfrm flipH="false" flipV="false" rot="0">
              <a:off x="0" y="0"/>
              <a:ext cx="3243894" cy="441691"/>
            </a:xfrm>
            <a:custGeom>
              <a:avLst/>
              <a:gdLst/>
              <a:ahLst/>
              <a:cxnLst/>
              <a:rect r="r" b="b" t="t" l="l"/>
              <a:pathLst>
                <a:path h="441691" w="3243894">
                  <a:moveTo>
                    <a:pt x="12571" y="0"/>
                  </a:moveTo>
                  <a:lnTo>
                    <a:pt x="3231323" y="0"/>
                  </a:lnTo>
                  <a:cubicBezTo>
                    <a:pt x="3238266" y="0"/>
                    <a:pt x="3243894" y="5628"/>
                    <a:pt x="3243894" y="12571"/>
                  </a:cubicBezTo>
                  <a:lnTo>
                    <a:pt x="3243894" y="429119"/>
                  </a:lnTo>
                  <a:cubicBezTo>
                    <a:pt x="3243894" y="432454"/>
                    <a:pt x="3242570" y="435651"/>
                    <a:pt x="3240212" y="438009"/>
                  </a:cubicBezTo>
                  <a:cubicBezTo>
                    <a:pt x="3237854" y="440366"/>
                    <a:pt x="3234657" y="441691"/>
                    <a:pt x="3231323" y="441691"/>
                  </a:cubicBezTo>
                  <a:lnTo>
                    <a:pt x="12571" y="441691"/>
                  </a:lnTo>
                  <a:cubicBezTo>
                    <a:pt x="9237" y="441691"/>
                    <a:pt x="6040" y="440366"/>
                    <a:pt x="3682" y="438009"/>
                  </a:cubicBezTo>
                  <a:cubicBezTo>
                    <a:pt x="1324" y="435651"/>
                    <a:pt x="0" y="432454"/>
                    <a:pt x="0" y="429119"/>
                  </a:cubicBezTo>
                  <a:lnTo>
                    <a:pt x="0" y="12571"/>
                  </a:lnTo>
                  <a:cubicBezTo>
                    <a:pt x="0" y="9237"/>
                    <a:pt x="1324" y="6040"/>
                    <a:pt x="3682" y="3682"/>
                  </a:cubicBezTo>
                  <a:cubicBezTo>
                    <a:pt x="6040" y="1324"/>
                    <a:pt x="9237" y="0"/>
                    <a:pt x="12571" y="0"/>
                  </a:cubicBezTo>
                  <a:close/>
                </a:path>
              </a:pathLst>
            </a:custGeom>
            <a:solidFill>
              <a:srgbClr val="4D4A7D"/>
            </a:solidFill>
          </p:spPr>
        </p:sp>
        <p:sp>
          <p:nvSpPr>
            <p:cNvPr name="TextBox 5" id="5"/>
            <p:cNvSpPr txBox="true"/>
            <p:nvPr/>
          </p:nvSpPr>
          <p:spPr>
            <a:xfrm>
              <a:off x="0" y="-38100"/>
              <a:ext cx="3243894" cy="479791"/>
            </a:xfrm>
            <a:prstGeom prst="rect">
              <a:avLst/>
            </a:prstGeom>
          </p:spPr>
          <p:txBody>
            <a:bodyPr anchor="ctr" rtlCol="false" tIns="50800" lIns="50800" bIns="50800" rIns="50800"/>
            <a:lstStyle/>
            <a:p>
              <a:pPr algn="just">
                <a:lnSpc>
                  <a:spcPts val="2659"/>
                </a:lnSpc>
                <a:spcBef>
                  <a:spcPct val="0"/>
                </a:spcBef>
              </a:pPr>
            </a:p>
          </p:txBody>
        </p:sp>
      </p:grpSp>
      <p:sp>
        <p:nvSpPr>
          <p:cNvPr name="Freeform 6" id="6"/>
          <p:cNvSpPr/>
          <p:nvPr/>
        </p:nvSpPr>
        <p:spPr>
          <a:xfrm flipH="true" flipV="false" rot="0">
            <a:off x="14314668" y="9258300"/>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178134" y="3819425"/>
            <a:ext cx="7109866" cy="3554933"/>
          </a:xfrm>
          <a:custGeom>
            <a:avLst/>
            <a:gdLst/>
            <a:ahLst/>
            <a:cxnLst/>
            <a:rect r="r" b="b" t="t" l="l"/>
            <a:pathLst>
              <a:path h="3554933" w="7109866">
                <a:moveTo>
                  <a:pt x="0" y="0"/>
                </a:moveTo>
                <a:lnTo>
                  <a:pt x="7109866" y="0"/>
                </a:lnTo>
                <a:lnTo>
                  <a:pt x="7109866" y="3554933"/>
                </a:lnTo>
                <a:lnTo>
                  <a:pt x="0" y="3554933"/>
                </a:lnTo>
                <a:lnTo>
                  <a:pt x="0" y="0"/>
                </a:lnTo>
                <a:close/>
              </a:path>
            </a:pathLst>
          </a:custGeom>
          <a:blipFill>
            <a:blip r:embed="rId6"/>
            <a:stretch>
              <a:fillRect l="0" t="0" r="0" b="0"/>
            </a:stretch>
          </a:blipFill>
        </p:spPr>
      </p:sp>
      <p:sp>
        <p:nvSpPr>
          <p:cNvPr name="TextBox 8" id="8"/>
          <p:cNvSpPr txBox="true"/>
          <p:nvPr/>
        </p:nvSpPr>
        <p:spPr>
          <a:xfrm rot="0">
            <a:off x="3697467" y="1104900"/>
            <a:ext cx="10893066" cy="830583"/>
          </a:xfrm>
          <a:prstGeom prst="rect">
            <a:avLst/>
          </a:prstGeom>
        </p:spPr>
        <p:txBody>
          <a:bodyPr anchor="t" rtlCol="false" tIns="0" lIns="0" bIns="0" rIns="0">
            <a:spAutoFit/>
          </a:bodyPr>
          <a:lstStyle/>
          <a:p>
            <a:pPr algn="ctr">
              <a:lnSpc>
                <a:spcPts val="6360"/>
              </a:lnSpc>
            </a:pPr>
            <a:r>
              <a:rPr lang="en-US" sz="6000" b="true">
                <a:solidFill>
                  <a:srgbClr val="F2F1FF"/>
                </a:solidFill>
                <a:latin typeface="Gotham Bold"/>
                <a:ea typeface="Gotham Bold"/>
                <a:cs typeface="Gotham Bold"/>
                <a:sym typeface="Gotham Bold"/>
              </a:rPr>
              <a:t>After Blancing the Dataset</a:t>
            </a:r>
          </a:p>
        </p:txBody>
      </p:sp>
      <p:sp>
        <p:nvSpPr>
          <p:cNvPr name="TextBox 9" id="9"/>
          <p:cNvSpPr txBox="true"/>
          <p:nvPr/>
        </p:nvSpPr>
        <p:spPr>
          <a:xfrm rot="0">
            <a:off x="1028700" y="3084641"/>
            <a:ext cx="11077065" cy="5462780"/>
          </a:xfrm>
          <a:prstGeom prst="rect">
            <a:avLst/>
          </a:prstGeom>
        </p:spPr>
        <p:txBody>
          <a:bodyPr anchor="t" rtlCol="false" tIns="0" lIns="0" bIns="0" rIns="0">
            <a:spAutoFit/>
          </a:bodyPr>
          <a:lstStyle/>
          <a:p>
            <a:pPr algn="l" marL="669286" indent="-334643" lvl="1">
              <a:lnSpc>
                <a:spcPts val="6230"/>
              </a:lnSpc>
              <a:buFont typeface="Arial"/>
              <a:buChar char="•"/>
            </a:pPr>
            <a:r>
              <a:rPr lang="en-US" sz="3099">
                <a:solidFill>
                  <a:srgbClr val="4D4A7D"/>
                </a:solidFill>
                <a:latin typeface="Gotham"/>
                <a:ea typeface="Gotham"/>
                <a:cs typeface="Gotham"/>
                <a:sym typeface="Gotham"/>
              </a:rPr>
              <a:t>After balancing the dataset, I observed a significant improvement in model performance.</a:t>
            </a:r>
          </a:p>
          <a:p>
            <a:pPr algn="l" marL="669286" indent="-334643" lvl="1">
              <a:lnSpc>
                <a:spcPts val="6230"/>
              </a:lnSpc>
              <a:buFont typeface="Arial"/>
              <a:buChar char="•"/>
            </a:pPr>
            <a:r>
              <a:rPr lang="en-US" sz="3099">
                <a:solidFill>
                  <a:srgbClr val="4D4A7D"/>
                </a:solidFill>
                <a:latin typeface="Gotham"/>
                <a:ea typeface="Gotham"/>
                <a:cs typeface="Gotham"/>
                <a:sym typeface="Gotham"/>
              </a:rPr>
              <a:t>The testing accuracy increased to around 96%, indicating better generalization.</a:t>
            </a:r>
          </a:p>
          <a:p>
            <a:pPr algn="l" marL="669286" indent="-334643" lvl="1">
              <a:lnSpc>
                <a:spcPts val="6230"/>
              </a:lnSpc>
              <a:buFont typeface="Arial"/>
              <a:buChar char="•"/>
            </a:pPr>
            <a:r>
              <a:rPr lang="en-US" sz="3099">
                <a:solidFill>
                  <a:srgbClr val="4D4A7D"/>
                </a:solidFill>
                <a:latin typeface="Gotham"/>
                <a:ea typeface="Gotham"/>
                <a:cs typeface="Gotham"/>
                <a:sym typeface="Gotham"/>
              </a:rPr>
              <a:t>I also noticed a substantial reduction in loss values.</a:t>
            </a:r>
          </a:p>
          <a:p>
            <a:pPr algn="l" marL="669286" indent="-334643" lvl="1">
              <a:lnSpc>
                <a:spcPts val="6230"/>
              </a:lnSpc>
              <a:buFont typeface="Arial"/>
              <a:buChar char="•"/>
            </a:pPr>
            <a:r>
              <a:rPr lang="en-US" sz="3099">
                <a:solidFill>
                  <a:srgbClr val="4D4A7D"/>
                </a:solidFill>
                <a:latin typeface="Gotham"/>
                <a:ea typeface="Gotham"/>
                <a:cs typeface="Gotham"/>
                <a:sym typeface="Gotham"/>
              </a:rPr>
              <a:t>With balanced classes, the model achieved higher accuracy and excellent F1-scores on the test dataset.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4546" y="1292014"/>
            <a:ext cx="5235312" cy="1677045"/>
            <a:chOff x="0" y="0"/>
            <a:chExt cx="1378848" cy="441691"/>
          </a:xfrm>
        </p:grpSpPr>
        <p:sp>
          <p:nvSpPr>
            <p:cNvPr name="Freeform 3" id="3"/>
            <p:cNvSpPr/>
            <p:nvPr/>
          </p:nvSpPr>
          <p:spPr>
            <a:xfrm flipH="false" flipV="false" rot="0">
              <a:off x="0" y="0"/>
              <a:ext cx="1378848" cy="441691"/>
            </a:xfrm>
            <a:custGeom>
              <a:avLst/>
              <a:gdLst/>
              <a:ahLst/>
              <a:cxnLst/>
              <a:rect r="r" b="b" t="t" l="l"/>
              <a:pathLst>
                <a:path h="441691" w="1378848">
                  <a:moveTo>
                    <a:pt x="29576" y="0"/>
                  </a:moveTo>
                  <a:lnTo>
                    <a:pt x="1349272" y="0"/>
                  </a:lnTo>
                  <a:cubicBezTo>
                    <a:pt x="1357116" y="0"/>
                    <a:pt x="1364639" y="3116"/>
                    <a:pt x="1370185" y="8663"/>
                  </a:cubicBezTo>
                  <a:cubicBezTo>
                    <a:pt x="1375732" y="14209"/>
                    <a:pt x="1378848" y="21732"/>
                    <a:pt x="1378848" y="29576"/>
                  </a:cubicBezTo>
                  <a:lnTo>
                    <a:pt x="1378848" y="412115"/>
                  </a:lnTo>
                  <a:cubicBezTo>
                    <a:pt x="1378848" y="419959"/>
                    <a:pt x="1375732" y="427482"/>
                    <a:pt x="1370185" y="433028"/>
                  </a:cubicBezTo>
                  <a:cubicBezTo>
                    <a:pt x="1364639" y="438575"/>
                    <a:pt x="1357116" y="441691"/>
                    <a:pt x="1349272" y="441691"/>
                  </a:cubicBezTo>
                  <a:lnTo>
                    <a:pt x="29576" y="441691"/>
                  </a:lnTo>
                  <a:cubicBezTo>
                    <a:pt x="21732" y="441691"/>
                    <a:pt x="14209" y="438575"/>
                    <a:pt x="8663" y="433028"/>
                  </a:cubicBezTo>
                  <a:cubicBezTo>
                    <a:pt x="3116" y="427482"/>
                    <a:pt x="0" y="419959"/>
                    <a:pt x="0" y="412115"/>
                  </a:cubicBezTo>
                  <a:lnTo>
                    <a:pt x="0" y="29576"/>
                  </a:lnTo>
                  <a:cubicBezTo>
                    <a:pt x="0" y="21732"/>
                    <a:pt x="3116" y="14209"/>
                    <a:pt x="8663" y="8663"/>
                  </a:cubicBezTo>
                  <a:cubicBezTo>
                    <a:pt x="14209" y="3116"/>
                    <a:pt x="21732" y="0"/>
                    <a:pt x="29576" y="0"/>
                  </a:cubicBezTo>
                  <a:close/>
                </a:path>
              </a:pathLst>
            </a:custGeom>
            <a:solidFill>
              <a:srgbClr val="4D4A7D"/>
            </a:solidFill>
          </p:spPr>
        </p:sp>
        <p:sp>
          <p:nvSpPr>
            <p:cNvPr name="TextBox 4" id="4"/>
            <p:cNvSpPr txBox="true"/>
            <p:nvPr/>
          </p:nvSpPr>
          <p:spPr>
            <a:xfrm>
              <a:off x="0" y="-38100"/>
              <a:ext cx="1378848" cy="479791"/>
            </a:xfrm>
            <a:prstGeom prst="rect">
              <a:avLst/>
            </a:prstGeom>
          </p:spPr>
          <p:txBody>
            <a:bodyPr anchor="ctr" rtlCol="false" tIns="50800" lIns="50800" bIns="50800" rIns="50800"/>
            <a:lstStyle/>
            <a:p>
              <a:pPr algn="just">
                <a:lnSpc>
                  <a:spcPts val="2659"/>
                </a:lnSpc>
                <a:spcBef>
                  <a:spcPct val="0"/>
                </a:spcBef>
              </a:pPr>
            </a:p>
          </p:txBody>
        </p:sp>
      </p:grpSp>
      <p:grpSp>
        <p:nvGrpSpPr>
          <p:cNvPr name="Group 5" id="5"/>
          <p:cNvGrpSpPr/>
          <p:nvPr/>
        </p:nvGrpSpPr>
        <p:grpSpPr>
          <a:xfrm rot="0">
            <a:off x="12167529" y="7260022"/>
            <a:ext cx="5235312" cy="1677045"/>
            <a:chOff x="0" y="0"/>
            <a:chExt cx="1378848" cy="441691"/>
          </a:xfrm>
        </p:grpSpPr>
        <p:sp>
          <p:nvSpPr>
            <p:cNvPr name="Freeform 6" id="6"/>
            <p:cNvSpPr/>
            <p:nvPr/>
          </p:nvSpPr>
          <p:spPr>
            <a:xfrm flipH="false" flipV="false" rot="0">
              <a:off x="0" y="0"/>
              <a:ext cx="1378848" cy="441691"/>
            </a:xfrm>
            <a:custGeom>
              <a:avLst/>
              <a:gdLst/>
              <a:ahLst/>
              <a:cxnLst/>
              <a:rect r="r" b="b" t="t" l="l"/>
              <a:pathLst>
                <a:path h="441691" w="1378848">
                  <a:moveTo>
                    <a:pt x="29576" y="0"/>
                  </a:moveTo>
                  <a:lnTo>
                    <a:pt x="1349272" y="0"/>
                  </a:lnTo>
                  <a:cubicBezTo>
                    <a:pt x="1357116" y="0"/>
                    <a:pt x="1364639" y="3116"/>
                    <a:pt x="1370185" y="8663"/>
                  </a:cubicBezTo>
                  <a:cubicBezTo>
                    <a:pt x="1375732" y="14209"/>
                    <a:pt x="1378848" y="21732"/>
                    <a:pt x="1378848" y="29576"/>
                  </a:cubicBezTo>
                  <a:lnTo>
                    <a:pt x="1378848" y="412115"/>
                  </a:lnTo>
                  <a:cubicBezTo>
                    <a:pt x="1378848" y="419959"/>
                    <a:pt x="1375732" y="427482"/>
                    <a:pt x="1370185" y="433028"/>
                  </a:cubicBezTo>
                  <a:cubicBezTo>
                    <a:pt x="1364639" y="438575"/>
                    <a:pt x="1357116" y="441691"/>
                    <a:pt x="1349272" y="441691"/>
                  </a:cubicBezTo>
                  <a:lnTo>
                    <a:pt x="29576" y="441691"/>
                  </a:lnTo>
                  <a:cubicBezTo>
                    <a:pt x="21732" y="441691"/>
                    <a:pt x="14209" y="438575"/>
                    <a:pt x="8663" y="433028"/>
                  </a:cubicBezTo>
                  <a:cubicBezTo>
                    <a:pt x="3116" y="427482"/>
                    <a:pt x="0" y="419959"/>
                    <a:pt x="0" y="412115"/>
                  </a:cubicBezTo>
                  <a:lnTo>
                    <a:pt x="0" y="29576"/>
                  </a:lnTo>
                  <a:cubicBezTo>
                    <a:pt x="0" y="21732"/>
                    <a:pt x="3116" y="14209"/>
                    <a:pt x="8663" y="8663"/>
                  </a:cubicBezTo>
                  <a:cubicBezTo>
                    <a:pt x="14209" y="3116"/>
                    <a:pt x="21732" y="0"/>
                    <a:pt x="29576" y="0"/>
                  </a:cubicBezTo>
                  <a:close/>
                </a:path>
              </a:pathLst>
            </a:custGeom>
            <a:solidFill>
              <a:srgbClr val="4D4A7D"/>
            </a:solidFill>
          </p:spPr>
        </p:sp>
        <p:sp>
          <p:nvSpPr>
            <p:cNvPr name="TextBox 7" id="7"/>
            <p:cNvSpPr txBox="true"/>
            <p:nvPr/>
          </p:nvSpPr>
          <p:spPr>
            <a:xfrm>
              <a:off x="0" y="-38100"/>
              <a:ext cx="1378848" cy="479791"/>
            </a:xfrm>
            <a:prstGeom prst="rect">
              <a:avLst/>
            </a:prstGeom>
          </p:spPr>
          <p:txBody>
            <a:bodyPr anchor="ctr" rtlCol="false" tIns="50800" lIns="50800" bIns="50800" rIns="50800"/>
            <a:lstStyle/>
            <a:p>
              <a:pPr algn="just">
                <a:lnSpc>
                  <a:spcPts val="2659"/>
                </a:lnSpc>
                <a:spcBef>
                  <a:spcPct val="0"/>
                </a:spcBef>
              </a:pPr>
            </a:p>
          </p:txBody>
        </p:sp>
      </p:grpSp>
      <p:sp>
        <p:nvSpPr>
          <p:cNvPr name="Freeform 8" id="8"/>
          <p:cNvSpPr/>
          <p:nvPr/>
        </p:nvSpPr>
        <p:spPr>
          <a:xfrm flipH="true" flipV="false" rot="0">
            <a:off x="741628" y="649549"/>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4314668" y="8937067"/>
            <a:ext cx="2944632" cy="642465"/>
          </a:xfrm>
          <a:custGeom>
            <a:avLst/>
            <a:gdLst/>
            <a:ahLst/>
            <a:cxnLst/>
            <a:rect r="r" b="b" t="t" l="l"/>
            <a:pathLst>
              <a:path h="642465" w="2944632">
                <a:moveTo>
                  <a:pt x="2944632" y="0"/>
                </a:moveTo>
                <a:lnTo>
                  <a:pt x="0" y="0"/>
                </a:lnTo>
                <a:lnTo>
                  <a:pt x="0" y="642466"/>
                </a:lnTo>
                <a:lnTo>
                  <a:pt x="2944632" y="642466"/>
                </a:lnTo>
                <a:lnTo>
                  <a:pt x="294463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027092" y="793334"/>
            <a:ext cx="5232208" cy="6085689"/>
          </a:xfrm>
          <a:custGeom>
            <a:avLst/>
            <a:gdLst/>
            <a:ahLst/>
            <a:cxnLst/>
            <a:rect r="r" b="b" t="t" l="l"/>
            <a:pathLst>
              <a:path h="6085689" w="5232208">
                <a:moveTo>
                  <a:pt x="0" y="0"/>
                </a:moveTo>
                <a:lnTo>
                  <a:pt x="5232208" y="0"/>
                </a:lnTo>
                <a:lnTo>
                  <a:pt x="5232208" y="6085688"/>
                </a:lnTo>
                <a:lnTo>
                  <a:pt x="0" y="6085688"/>
                </a:lnTo>
                <a:lnTo>
                  <a:pt x="0" y="0"/>
                </a:lnTo>
                <a:close/>
              </a:path>
            </a:pathLst>
          </a:custGeom>
          <a:blipFill>
            <a:blip r:embed="rId4"/>
            <a:stretch>
              <a:fillRect l="0" t="0" r="0" b="0"/>
            </a:stretch>
          </a:blipFill>
        </p:spPr>
      </p:sp>
      <p:sp>
        <p:nvSpPr>
          <p:cNvPr name="Freeform 11" id="11"/>
          <p:cNvSpPr/>
          <p:nvPr/>
        </p:nvSpPr>
        <p:spPr>
          <a:xfrm flipH="false" flipV="false" rot="0">
            <a:off x="6015869" y="498524"/>
            <a:ext cx="5686653" cy="4941070"/>
          </a:xfrm>
          <a:custGeom>
            <a:avLst/>
            <a:gdLst/>
            <a:ahLst/>
            <a:cxnLst/>
            <a:rect r="r" b="b" t="t" l="l"/>
            <a:pathLst>
              <a:path h="4941070" w="5686653">
                <a:moveTo>
                  <a:pt x="0" y="0"/>
                </a:moveTo>
                <a:lnTo>
                  <a:pt x="5686653" y="0"/>
                </a:lnTo>
                <a:lnTo>
                  <a:pt x="5686653" y="4941070"/>
                </a:lnTo>
                <a:lnTo>
                  <a:pt x="0" y="4941070"/>
                </a:lnTo>
                <a:lnTo>
                  <a:pt x="0" y="0"/>
                </a:lnTo>
                <a:close/>
              </a:path>
            </a:pathLst>
          </a:custGeom>
          <a:blipFill>
            <a:blip r:embed="rId5"/>
            <a:stretch>
              <a:fillRect l="0" t="0" r="0" b="0"/>
            </a:stretch>
          </a:blipFill>
        </p:spPr>
      </p:sp>
      <p:sp>
        <p:nvSpPr>
          <p:cNvPr name="Freeform 12" id="12"/>
          <p:cNvSpPr/>
          <p:nvPr/>
        </p:nvSpPr>
        <p:spPr>
          <a:xfrm flipH="false" flipV="false" rot="0">
            <a:off x="590430" y="3738470"/>
            <a:ext cx="5148715" cy="6085689"/>
          </a:xfrm>
          <a:custGeom>
            <a:avLst/>
            <a:gdLst/>
            <a:ahLst/>
            <a:cxnLst/>
            <a:rect r="r" b="b" t="t" l="l"/>
            <a:pathLst>
              <a:path h="6085689" w="5148715">
                <a:moveTo>
                  <a:pt x="0" y="0"/>
                </a:moveTo>
                <a:lnTo>
                  <a:pt x="5148715" y="0"/>
                </a:lnTo>
                <a:lnTo>
                  <a:pt x="5148715" y="6085688"/>
                </a:lnTo>
                <a:lnTo>
                  <a:pt x="0" y="6085688"/>
                </a:lnTo>
                <a:lnTo>
                  <a:pt x="0" y="0"/>
                </a:lnTo>
                <a:close/>
              </a:path>
            </a:pathLst>
          </a:custGeom>
          <a:blipFill>
            <a:blip r:embed="rId6"/>
            <a:stretch>
              <a:fillRect l="0" t="0" r="0" b="0"/>
            </a:stretch>
          </a:blipFill>
        </p:spPr>
      </p:sp>
      <p:sp>
        <p:nvSpPr>
          <p:cNvPr name="Freeform 13" id="13"/>
          <p:cNvSpPr/>
          <p:nvPr/>
        </p:nvSpPr>
        <p:spPr>
          <a:xfrm flipH="false" flipV="false" rot="0">
            <a:off x="6255103" y="5391747"/>
            <a:ext cx="5427593" cy="4715975"/>
          </a:xfrm>
          <a:custGeom>
            <a:avLst/>
            <a:gdLst/>
            <a:ahLst/>
            <a:cxnLst/>
            <a:rect r="r" b="b" t="t" l="l"/>
            <a:pathLst>
              <a:path h="4715975" w="5427593">
                <a:moveTo>
                  <a:pt x="0" y="0"/>
                </a:moveTo>
                <a:lnTo>
                  <a:pt x="5427594" y="0"/>
                </a:lnTo>
                <a:lnTo>
                  <a:pt x="5427594" y="4715975"/>
                </a:lnTo>
                <a:lnTo>
                  <a:pt x="0" y="4715975"/>
                </a:lnTo>
                <a:lnTo>
                  <a:pt x="0" y="0"/>
                </a:lnTo>
                <a:close/>
              </a:path>
            </a:pathLst>
          </a:custGeom>
          <a:blipFill>
            <a:blip r:embed="rId7"/>
            <a:stretch>
              <a:fillRect l="0" t="0" r="0" b="0"/>
            </a:stretch>
          </a:blipFill>
        </p:spPr>
      </p:sp>
      <p:sp>
        <p:nvSpPr>
          <p:cNvPr name="TextBox 14" id="14"/>
          <p:cNvSpPr txBox="true"/>
          <p:nvPr/>
        </p:nvSpPr>
        <p:spPr>
          <a:xfrm rot="0">
            <a:off x="454546" y="1753345"/>
            <a:ext cx="5127509" cy="830583"/>
          </a:xfrm>
          <a:prstGeom prst="rect">
            <a:avLst/>
          </a:prstGeom>
        </p:spPr>
        <p:txBody>
          <a:bodyPr anchor="t" rtlCol="false" tIns="0" lIns="0" bIns="0" rIns="0">
            <a:spAutoFit/>
          </a:bodyPr>
          <a:lstStyle/>
          <a:p>
            <a:pPr algn="ctr">
              <a:lnSpc>
                <a:spcPts val="6360"/>
              </a:lnSpc>
            </a:pPr>
            <a:r>
              <a:rPr lang="en-US" sz="6000" b="true">
                <a:solidFill>
                  <a:srgbClr val="F2F1FF"/>
                </a:solidFill>
                <a:latin typeface="Gotham Bold"/>
                <a:ea typeface="Gotham Bold"/>
                <a:cs typeface="Gotham Bold"/>
                <a:sym typeface="Gotham Bold"/>
              </a:rPr>
              <a:t>Custom CNN</a:t>
            </a:r>
          </a:p>
        </p:txBody>
      </p:sp>
      <p:sp>
        <p:nvSpPr>
          <p:cNvPr name="TextBox 15" id="15"/>
          <p:cNvSpPr txBox="true"/>
          <p:nvPr/>
        </p:nvSpPr>
        <p:spPr>
          <a:xfrm rot="0">
            <a:off x="12167529" y="7721353"/>
            <a:ext cx="5127509" cy="830583"/>
          </a:xfrm>
          <a:prstGeom prst="rect">
            <a:avLst/>
          </a:prstGeom>
        </p:spPr>
        <p:txBody>
          <a:bodyPr anchor="t" rtlCol="false" tIns="0" lIns="0" bIns="0" rIns="0">
            <a:spAutoFit/>
          </a:bodyPr>
          <a:lstStyle/>
          <a:p>
            <a:pPr algn="ctr">
              <a:lnSpc>
                <a:spcPts val="6360"/>
              </a:lnSpc>
            </a:pPr>
            <a:r>
              <a:rPr lang="en-US" sz="6000" b="true">
                <a:solidFill>
                  <a:srgbClr val="F2F1FF"/>
                </a:solidFill>
                <a:latin typeface="Gotham Bold"/>
                <a:ea typeface="Gotham Bold"/>
                <a:cs typeface="Gotham Bold"/>
                <a:sym typeface="Gotham Bold"/>
              </a:rPr>
              <a:t>ResNet50</a:t>
            </a:r>
          </a:p>
        </p:txBody>
      </p:sp>
      <p:sp>
        <p:nvSpPr>
          <p:cNvPr name="TextBox 16" id="16"/>
          <p:cNvSpPr txBox="true"/>
          <p:nvPr/>
        </p:nvSpPr>
        <p:spPr>
          <a:xfrm rot="0">
            <a:off x="8387244" y="365340"/>
            <a:ext cx="1082214" cy="172336"/>
          </a:xfrm>
          <a:prstGeom prst="rect">
            <a:avLst/>
          </a:prstGeom>
        </p:spPr>
        <p:txBody>
          <a:bodyPr anchor="t" rtlCol="false" tIns="0" lIns="0" bIns="0" rIns="0">
            <a:spAutoFit/>
          </a:bodyPr>
          <a:lstStyle/>
          <a:p>
            <a:pPr algn="ctr">
              <a:lnSpc>
                <a:spcPts val="1342"/>
              </a:lnSpc>
            </a:pPr>
            <a:r>
              <a:rPr lang="en-US" sz="1266" b="true">
                <a:solidFill>
                  <a:srgbClr val="4D4A7D"/>
                </a:solidFill>
                <a:latin typeface="Gotham Bold"/>
                <a:ea typeface="Gotham Bold"/>
                <a:cs typeface="Gotham Bold"/>
                <a:sym typeface="Gotham Bold"/>
              </a:rPr>
              <a:t>Custom CNN</a:t>
            </a:r>
          </a:p>
        </p:txBody>
      </p:sp>
      <p:sp>
        <p:nvSpPr>
          <p:cNvPr name="TextBox 17" id="17"/>
          <p:cNvSpPr txBox="true"/>
          <p:nvPr/>
        </p:nvSpPr>
        <p:spPr>
          <a:xfrm rot="0">
            <a:off x="14785185" y="894138"/>
            <a:ext cx="1082214" cy="165392"/>
          </a:xfrm>
          <a:prstGeom prst="rect">
            <a:avLst/>
          </a:prstGeom>
        </p:spPr>
        <p:txBody>
          <a:bodyPr anchor="t" rtlCol="false" tIns="0" lIns="0" bIns="0" rIns="0">
            <a:spAutoFit/>
          </a:bodyPr>
          <a:lstStyle/>
          <a:p>
            <a:pPr algn="ctr">
              <a:lnSpc>
                <a:spcPts val="1342"/>
              </a:lnSpc>
            </a:pPr>
            <a:r>
              <a:rPr lang="en-US" sz="1266" b="true">
                <a:solidFill>
                  <a:srgbClr val="FFFFFF"/>
                </a:solidFill>
                <a:latin typeface="Gotham Bold"/>
                <a:ea typeface="Gotham Bold"/>
                <a:cs typeface="Gotham Bold"/>
                <a:sym typeface="Gotham Bold"/>
              </a:rPr>
              <a:t>Custom CNN</a:t>
            </a:r>
          </a:p>
        </p:txBody>
      </p:sp>
      <p:sp>
        <p:nvSpPr>
          <p:cNvPr name="TextBox 18" id="18"/>
          <p:cNvSpPr txBox="true"/>
          <p:nvPr/>
        </p:nvSpPr>
        <p:spPr>
          <a:xfrm rot="0">
            <a:off x="3478241" y="3855228"/>
            <a:ext cx="1082214" cy="165392"/>
          </a:xfrm>
          <a:prstGeom prst="rect">
            <a:avLst/>
          </a:prstGeom>
        </p:spPr>
        <p:txBody>
          <a:bodyPr anchor="t" rtlCol="false" tIns="0" lIns="0" bIns="0" rIns="0">
            <a:spAutoFit/>
          </a:bodyPr>
          <a:lstStyle/>
          <a:p>
            <a:pPr algn="ctr">
              <a:lnSpc>
                <a:spcPts val="1342"/>
              </a:lnSpc>
            </a:pPr>
            <a:r>
              <a:rPr lang="en-US" sz="1266" b="true">
                <a:solidFill>
                  <a:srgbClr val="FFFFFF"/>
                </a:solidFill>
                <a:latin typeface="Gotham Bold"/>
                <a:ea typeface="Gotham Bold"/>
                <a:cs typeface="Gotham Bold"/>
                <a:sym typeface="Gotham Bold"/>
              </a:rPr>
              <a:t>Resnet50</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4546" y="1292014"/>
            <a:ext cx="5235312" cy="1677045"/>
            <a:chOff x="0" y="0"/>
            <a:chExt cx="1378848" cy="441691"/>
          </a:xfrm>
        </p:grpSpPr>
        <p:sp>
          <p:nvSpPr>
            <p:cNvPr name="Freeform 3" id="3"/>
            <p:cNvSpPr/>
            <p:nvPr/>
          </p:nvSpPr>
          <p:spPr>
            <a:xfrm flipH="false" flipV="false" rot="0">
              <a:off x="0" y="0"/>
              <a:ext cx="1378848" cy="441691"/>
            </a:xfrm>
            <a:custGeom>
              <a:avLst/>
              <a:gdLst/>
              <a:ahLst/>
              <a:cxnLst/>
              <a:rect r="r" b="b" t="t" l="l"/>
              <a:pathLst>
                <a:path h="441691" w="1378848">
                  <a:moveTo>
                    <a:pt x="29576" y="0"/>
                  </a:moveTo>
                  <a:lnTo>
                    <a:pt x="1349272" y="0"/>
                  </a:lnTo>
                  <a:cubicBezTo>
                    <a:pt x="1357116" y="0"/>
                    <a:pt x="1364639" y="3116"/>
                    <a:pt x="1370185" y="8663"/>
                  </a:cubicBezTo>
                  <a:cubicBezTo>
                    <a:pt x="1375732" y="14209"/>
                    <a:pt x="1378848" y="21732"/>
                    <a:pt x="1378848" y="29576"/>
                  </a:cubicBezTo>
                  <a:lnTo>
                    <a:pt x="1378848" y="412115"/>
                  </a:lnTo>
                  <a:cubicBezTo>
                    <a:pt x="1378848" y="419959"/>
                    <a:pt x="1375732" y="427482"/>
                    <a:pt x="1370185" y="433028"/>
                  </a:cubicBezTo>
                  <a:cubicBezTo>
                    <a:pt x="1364639" y="438575"/>
                    <a:pt x="1357116" y="441691"/>
                    <a:pt x="1349272" y="441691"/>
                  </a:cubicBezTo>
                  <a:lnTo>
                    <a:pt x="29576" y="441691"/>
                  </a:lnTo>
                  <a:cubicBezTo>
                    <a:pt x="21732" y="441691"/>
                    <a:pt x="14209" y="438575"/>
                    <a:pt x="8663" y="433028"/>
                  </a:cubicBezTo>
                  <a:cubicBezTo>
                    <a:pt x="3116" y="427482"/>
                    <a:pt x="0" y="419959"/>
                    <a:pt x="0" y="412115"/>
                  </a:cubicBezTo>
                  <a:lnTo>
                    <a:pt x="0" y="29576"/>
                  </a:lnTo>
                  <a:cubicBezTo>
                    <a:pt x="0" y="21732"/>
                    <a:pt x="3116" y="14209"/>
                    <a:pt x="8663" y="8663"/>
                  </a:cubicBezTo>
                  <a:cubicBezTo>
                    <a:pt x="14209" y="3116"/>
                    <a:pt x="21732" y="0"/>
                    <a:pt x="29576" y="0"/>
                  </a:cubicBezTo>
                  <a:close/>
                </a:path>
              </a:pathLst>
            </a:custGeom>
            <a:solidFill>
              <a:srgbClr val="4D4A7D"/>
            </a:solidFill>
          </p:spPr>
        </p:sp>
        <p:sp>
          <p:nvSpPr>
            <p:cNvPr name="TextBox 4" id="4"/>
            <p:cNvSpPr txBox="true"/>
            <p:nvPr/>
          </p:nvSpPr>
          <p:spPr>
            <a:xfrm>
              <a:off x="0" y="-38100"/>
              <a:ext cx="1378848" cy="479791"/>
            </a:xfrm>
            <a:prstGeom prst="rect">
              <a:avLst/>
            </a:prstGeom>
          </p:spPr>
          <p:txBody>
            <a:bodyPr anchor="ctr" rtlCol="false" tIns="50800" lIns="50800" bIns="50800" rIns="50800"/>
            <a:lstStyle/>
            <a:p>
              <a:pPr algn="just">
                <a:lnSpc>
                  <a:spcPts val="2659"/>
                </a:lnSpc>
                <a:spcBef>
                  <a:spcPct val="0"/>
                </a:spcBef>
              </a:pPr>
            </a:p>
          </p:txBody>
        </p:sp>
      </p:grpSp>
      <p:grpSp>
        <p:nvGrpSpPr>
          <p:cNvPr name="Group 5" id="5"/>
          <p:cNvGrpSpPr/>
          <p:nvPr/>
        </p:nvGrpSpPr>
        <p:grpSpPr>
          <a:xfrm rot="0">
            <a:off x="12167529" y="7260022"/>
            <a:ext cx="5235312" cy="1677045"/>
            <a:chOff x="0" y="0"/>
            <a:chExt cx="1378848" cy="441691"/>
          </a:xfrm>
        </p:grpSpPr>
        <p:sp>
          <p:nvSpPr>
            <p:cNvPr name="Freeform 6" id="6"/>
            <p:cNvSpPr/>
            <p:nvPr/>
          </p:nvSpPr>
          <p:spPr>
            <a:xfrm flipH="false" flipV="false" rot="0">
              <a:off x="0" y="0"/>
              <a:ext cx="1378848" cy="441691"/>
            </a:xfrm>
            <a:custGeom>
              <a:avLst/>
              <a:gdLst/>
              <a:ahLst/>
              <a:cxnLst/>
              <a:rect r="r" b="b" t="t" l="l"/>
              <a:pathLst>
                <a:path h="441691" w="1378848">
                  <a:moveTo>
                    <a:pt x="29576" y="0"/>
                  </a:moveTo>
                  <a:lnTo>
                    <a:pt x="1349272" y="0"/>
                  </a:lnTo>
                  <a:cubicBezTo>
                    <a:pt x="1357116" y="0"/>
                    <a:pt x="1364639" y="3116"/>
                    <a:pt x="1370185" y="8663"/>
                  </a:cubicBezTo>
                  <a:cubicBezTo>
                    <a:pt x="1375732" y="14209"/>
                    <a:pt x="1378848" y="21732"/>
                    <a:pt x="1378848" y="29576"/>
                  </a:cubicBezTo>
                  <a:lnTo>
                    <a:pt x="1378848" y="412115"/>
                  </a:lnTo>
                  <a:cubicBezTo>
                    <a:pt x="1378848" y="419959"/>
                    <a:pt x="1375732" y="427482"/>
                    <a:pt x="1370185" y="433028"/>
                  </a:cubicBezTo>
                  <a:cubicBezTo>
                    <a:pt x="1364639" y="438575"/>
                    <a:pt x="1357116" y="441691"/>
                    <a:pt x="1349272" y="441691"/>
                  </a:cubicBezTo>
                  <a:lnTo>
                    <a:pt x="29576" y="441691"/>
                  </a:lnTo>
                  <a:cubicBezTo>
                    <a:pt x="21732" y="441691"/>
                    <a:pt x="14209" y="438575"/>
                    <a:pt x="8663" y="433028"/>
                  </a:cubicBezTo>
                  <a:cubicBezTo>
                    <a:pt x="3116" y="427482"/>
                    <a:pt x="0" y="419959"/>
                    <a:pt x="0" y="412115"/>
                  </a:cubicBezTo>
                  <a:lnTo>
                    <a:pt x="0" y="29576"/>
                  </a:lnTo>
                  <a:cubicBezTo>
                    <a:pt x="0" y="21732"/>
                    <a:pt x="3116" y="14209"/>
                    <a:pt x="8663" y="8663"/>
                  </a:cubicBezTo>
                  <a:cubicBezTo>
                    <a:pt x="14209" y="3116"/>
                    <a:pt x="21732" y="0"/>
                    <a:pt x="29576" y="0"/>
                  </a:cubicBezTo>
                  <a:close/>
                </a:path>
              </a:pathLst>
            </a:custGeom>
            <a:solidFill>
              <a:srgbClr val="4D4A7D"/>
            </a:solidFill>
          </p:spPr>
        </p:sp>
        <p:sp>
          <p:nvSpPr>
            <p:cNvPr name="TextBox 7" id="7"/>
            <p:cNvSpPr txBox="true"/>
            <p:nvPr/>
          </p:nvSpPr>
          <p:spPr>
            <a:xfrm>
              <a:off x="0" y="-38100"/>
              <a:ext cx="1378848" cy="479791"/>
            </a:xfrm>
            <a:prstGeom prst="rect">
              <a:avLst/>
            </a:prstGeom>
          </p:spPr>
          <p:txBody>
            <a:bodyPr anchor="ctr" rtlCol="false" tIns="50800" lIns="50800" bIns="50800" rIns="50800"/>
            <a:lstStyle/>
            <a:p>
              <a:pPr algn="just">
                <a:lnSpc>
                  <a:spcPts val="2659"/>
                </a:lnSpc>
                <a:spcBef>
                  <a:spcPct val="0"/>
                </a:spcBef>
              </a:pPr>
            </a:p>
          </p:txBody>
        </p:sp>
      </p:grpSp>
      <p:sp>
        <p:nvSpPr>
          <p:cNvPr name="Freeform 8" id="8"/>
          <p:cNvSpPr/>
          <p:nvPr/>
        </p:nvSpPr>
        <p:spPr>
          <a:xfrm flipH="true" flipV="false" rot="0">
            <a:off x="741628" y="649549"/>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0">
            <a:off x="14314668" y="8937067"/>
            <a:ext cx="2944632" cy="642465"/>
          </a:xfrm>
          <a:custGeom>
            <a:avLst/>
            <a:gdLst/>
            <a:ahLst/>
            <a:cxnLst/>
            <a:rect r="r" b="b" t="t" l="l"/>
            <a:pathLst>
              <a:path h="642465" w="2944632">
                <a:moveTo>
                  <a:pt x="2944632" y="0"/>
                </a:moveTo>
                <a:lnTo>
                  <a:pt x="0" y="0"/>
                </a:lnTo>
                <a:lnTo>
                  <a:pt x="0" y="642466"/>
                </a:lnTo>
                <a:lnTo>
                  <a:pt x="2944632" y="642466"/>
                </a:lnTo>
                <a:lnTo>
                  <a:pt x="294463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167529" y="346290"/>
            <a:ext cx="5235312" cy="6346125"/>
          </a:xfrm>
          <a:custGeom>
            <a:avLst/>
            <a:gdLst/>
            <a:ahLst/>
            <a:cxnLst/>
            <a:rect r="r" b="b" t="t" l="l"/>
            <a:pathLst>
              <a:path h="6346125" w="5235312">
                <a:moveTo>
                  <a:pt x="0" y="0"/>
                </a:moveTo>
                <a:lnTo>
                  <a:pt x="5235312" y="0"/>
                </a:lnTo>
                <a:lnTo>
                  <a:pt x="5235312" y="6346125"/>
                </a:lnTo>
                <a:lnTo>
                  <a:pt x="0" y="6346125"/>
                </a:lnTo>
                <a:lnTo>
                  <a:pt x="0" y="0"/>
                </a:lnTo>
                <a:close/>
              </a:path>
            </a:pathLst>
          </a:custGeom>
          <a:blipFill>
            <a:blip r:embed="rId4"/>
            <a:stretch>
              <a:fillRect l="0" t="0" r="0" b="0"/>
            </a:stretch>
          </a:blipFill>
        </p:spPr>
      </p:sp>
      <p:sp>
        <p:nvSpPr>
          <p:cNvPr name="Freeform 11" id="11"/>
          <p:cNvSpPr/>
          <p:nvPr/>
        </p:nvSpPr>
        <p:spPr>
          <a:xfrm flipH="false" flipV="false" rot="0">
            <a:off x="6379612" y="526417"/>
            <a:ext cx="5528776" cy="4803892"/>
          </a:xfrm>
          <a:custGeom>
            <a:avLst/>
            <a:gdLst/>
            <a:ahLst/>
            <a:cxnLst/>
            <a:rect r="r" b="b" t="t" l="l"/>
            <a:pathLst>
              <a:path h="4803892" w="5528776">
                <a:moveTo>
                  <a:pt x="0" y="0"/>
                </a:moveTo>
                <a:lnTo>
                  <a:pt x="5528776" y="0"/>
                </a:lnTo>
                <a:lnTo>
                  <a:pt x="5528776" y="4803892"/>
                </a:lnTo>
                <a:lnTo>
                  <a:pt x="0" y="4803892"/>
                </a:lnTo>
                <a:lnTo>
                  <a:pt x="0" y="0"/>
                </a:lnTo>
                <a:close/>
              </a:path>
            </a:pathLst>
          </a:custGeom>
          <a:blipFill>
            <a:blip r:embed="rId5"/>
            <a:stretch>
              <a:fillRect l="0" t="0" r="0" b="0"/>
            </a:stretch>
          </a:blipFill>
        </p:spPr>
      </p:sp>
      <p:sp>
        <p:nvSpPr>
          <p:cNvPr name="Freeform 12" id="12"/>
          <p:cNvSpPr/>
          <p:nvPr/>
        </p:nvSpPr>
        <p:spPr>
          <a:xfrm flipH="false" flipV="false" rot="0">
            <a:off x="575804" y="3288499"/>
            <a:ext cx="5305926" cy="6291034"/>
          </a:xfrm>
          <a:custGeom>
            <a:avLst/>
            <a:gdLst/>
            <a:ahLst/>
            <a:cxnLst/>
            <a:rect r="r" b="b" t="t" l="l"/>
            <a:pathLst>
              <a:path h="6291034" w="5305926">
                <a:moveTo>
                  <a:pt x="0" y="0"/>
                </a:moveTo>
                <a:lnTo>
                  <a:pt x="5305927" y="0"/>
                </a:lnTo>
                <a:lnTo>
                  <a:pt x="5305927" y="6291034"/>
                </a:lnTo>
                <a:lnTo>
                  <a:pt x="0" y="6291034"/>
                </a:lnTo>
                <a:lnTo>
                  <a:pt x="0" y="0"/>
                </a:lnTo>
                <a:close/>
              </a:path>
            </a:pathLst>
          </a:custGeom>
          <a:blipFill>
            <a:blip r:embed="rId6"/>
            <a:stretch>
              <a:fillRect l="0" t="0" r="0" b="0"/>
            </a:stretch>
          </a:blipFill>
        </p:spPr>
      </p:sp>
      <p:sp>
        <p:nvSpPr>
          <p:cNvPr name="Freeform 13" id="13"/>
          <p:cNvSpPr/>
          <p:nvPr/>
        </p:nvSpPr>
        <p:spPr>
          <a:xfrm flipH="false" flipV="false" rot="0">
            <a:off x="6379612" y="5330309"/>
            <a:ext cx="5528776" cy="4803892"/>
          </a:xfrm>
          <a:custGeom>
            <a:avLst/>
            <a:gdLst/>
            <a:ahLst/>
            <a:cxnLst/>
            <a:rect r="r" b="b" t="t" l="l"/>
            <a:pathLst>
              <a:path h="4803892" w="5528776">
                <a:moveTo>
                  <a:pt x="0" y="0"/>
                </a:moveTo>
                <a:lnTo>
                  <a:pt x="5528776" y="0"/>
                </a:lnTo>
                <a:lnTo>
                  <a:pt x="5528776" y="4803892"/>
                </a:lnTo>
                <a:lnTo>
                  <a:pt x="0" y="4803892"/>
                </a:lnTo>
                <a:lnTo>
                  <a:pt x="0" y="0"/>
                </a:lnTo>
                <a:close/>
              </a:path>
            </a:pathLst>
          </a:custGeom>
          <a:blipFill>
            <a:blip r:embed="rId7"/>
            <a:stretch>
              <a:fillRect l="0" t="0" r="0" b="0"/>
            </a:stretch>
          </a:blipFill>
        </p:spPr>
      </p:sp>
      <p:sp>
        <p:nvSpPr>
          <p:cNvPr name="TextBox 14" id="14"/>
          <p:cNvSpPr txBox="true"/>
          <p:nvPr/>
        </p:nvSpPr>
        <p:spPr>
          <a:xfrm rot="0">
            <a:off x="454546" y="1753345"/>
            <a:ext cx="5127509" cy="830583"/>
          </a:xfrm>
          <a:prstGeom prst="rect">
            <a:avLst/>
          </a:prstGeom>
        </p:spPr>
        <p:txBody>
          <a:bodyPr anchor="t" rtlCol="false" tIns="0" lIns="0" bIns="0" rIns="0">
            <a:spAutoFit/>
          </a:bodyPr>
          <a:lstStyle/>
          <a:p>
            <a:pPr algn="ctr">
              <a:lnSpc>
                <a:spcPts val="6360"/>
              </a:lnSpc>
            </a:pPr>
            <a:r>
              <a:rPr lang="en-US" sz="6000" b="true">
                <a:solidFill>
                  <a:srgbClr val="F2F1FF"/>
                </a:solidFill>
                <a:latin typeface="Gotham Bold"/>
                <a:ea typeface="Gotham Bold"/>
                <a:cs typeface="Gotham Bold"/>
                <a:sym typeface="Gotham Bold"/>
              </a:rPr>
              <a:t>MobileNetV2</a:t>
            </a:r>
          </a:p>
        </p:txBody>
      </p:sp>
      <p:sp>
        <p:nvSpPr>
          <p:cNvPr name="TextBox 15" id="15"/>
          <p:cNvSpPr txBox="true"/>
          <p:nvPr/>
        </p:nvSpPr>
        <p:spPr>
          <a:xfrm rot="0">
            <a:off x="12167529" y="7721353"/>
            <a:ext cx="5127509" cy="1630683"/>
          </a:xfrm>
          <a:prstGeom prst="rect">
            <a:avLst/>
          </a:prstGeom>
        </p:spPr>
        <p:txBody>
          <a:bodyPr anchor="t" rtlCol="false" tIns="0" lIns="0" bIns="0" rIns="0">
            <a:spAutoFit/>
          </a:bodyPr>
          <a:lstStyle/>
          <a:p>
            <a:pPr algn="ctr">
              <a:lnSpc>
                <a:spcPts val="6360"/>
              </a:lnSpc>
            </a:pPr>
            <a:r>
              <a:rPr lang="en-US" sz="6000" b="true">
                <a:solidFill>
                  <a:srgbClr val="F2F1FF"/>
                </a:solidFill>
                <a:latin typeface="Gotham Bold"/>
                <a:ea typeface="Gotham Bold"/>
                <a:cs typeface="Gotham Bold"/>
                <a:sym typeface="Gotham Bold"/>
              </a:rPr>
              <a:t>DenseNet121</a:t>
            </a:r>
          </a:p>
          <a:p>
            <a:pPr algn="ctr">
              <a:lnSpc>
                <a:spcPts val="6360"/>
              </a:lnSpc>
            </a:pPr>
          </a:p>
        </p:txBody>
      </p:sp>
      <p:sp>
        <p:nvSpPr>
          <p:cNvPr name="TextBox 16" id="16"/>
          <p:cNvSpPr txBox="true"/>
          <p:nvPr/>
        </p:nvSpPr>
        <p:spPr>
          <a:xfrm rot="0">
            <a:off x="8387244" y="365340"/>
            <a:ext cx="1082214" cy="341205"/>
          </a:xfrm>
          <a:prstGeom prst="rect">
            <a:avLst/>
          </a:prstGeom>
        </p:spPr>
        <p:txBody>
          <a:bodyPr anchor="t" rtlCol="false" tIns="0" lIns="0" bIns="0" rIns="0">
            <a:spAutoFit/>
          </a:bodyPr>
          <a:lstStyle/>
          <a:p>
            <a:pPr algn="ctr">
              <a:lnSpc>
                <a:spcPts val="1342"/>
              </a:lnSpc>
            </a:pPr>
            <a:r>
              <a:rPr lang="en-US" sz="1266" b="true">
                <a:solidFill>
                  <a:srgbClr val="4D4A7D"/>
                </a:solidFill>
                <a:latin typeface="Gotham Bold"/>
                <a:ea typeface="Gotham Bold"/>
                <a:cs typeface="Gotham Bold"/>
                <a:sym typeface="Gotham Bold"/>
              </a:rPr>
              <a:t>MobileNetV2</a:t>
            </a:r>
          </a:p>
          <a:p>
            <a:pPr algn="ctr">
              <a:lnSpc>
                <a:spcPts val="1342"/>
              </a:lnSpc>
            </a:pPr>
          </a:p>
        </p:txBody>
      </p:sp>
      <p:sp>
        <p:nvSpPr>
          <p:cNvPr name="TextBox 17" id="17"/>
          <p:cNvSpPr txBox="true"/>
          <p:nvPr/>
        </p:nvSpPr>
        <p:spPr>
          <a:xfrm rot="0">
            <a:off x="3478241" y="3855228"/>
            <a:ext cx="1082214" cy="165392"/>
          </a:xfrm>
          <a:prstGeom prst="rect">
            <a:avLst/>
          </a:prstGeom>
        </p:spPr>
        <p:txBody>
          <a:bodyPr anchor="t" rtlCol="false" tIns="0" lIns="0" bIns="0" rIns="0">
            <a:spAutoFit/>
          </a:bodyPr>
          <a:lstStyle/>
          <a:p>
            <a:pPr algn="ctr">
              <a:lnSpc>
                <a:spcPts val="1342"/>
              </a:lnSpc>
            </a:pPr>
            <a:r>
              <a:rPr lang="en-US" sz="1266" b="true">
                <a:solidFill>
                  <a:srgbClr val="FFFFFF"/>
                </a:solidFill>
                <a:latin typeface="Gotham Bold"/>
                <a:ea typeface="Gotham Bold"/>
                <a:cs typeface="Gotham Bold"/>
                <a:sym typeface="Gotham Bold"/>
              </a:rPr>
              <a:t>Resnet50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699436" y="4542316"/>
            <a:ext cx="8889128" cy="1334128"/>
          </a:xfrm>
          <a:prstGeom prst="rect">
            <a:avLst/>
          </a:prstGeom>
        </p:spPr>
        <p:txBody>
          <a:bodyPr anchor="t" rtlCol="false" tIns="0" lIns="0" bIns="0" rIns="0">
            <a:spAutoFit/>
          </a:bodyPr>
          <a:lstStyle/>
          <a:p>
            <a:pPr algn="ctr">
              <a:lnSpc>
                <a:spcPts val="10258"/>
              </a:lnSpc>
            </a:pPr>
            <a:r>
              <a:rPr lang="en-US" sz="9678">
                <a:solidFill>
                  <a:srgbClr val="4D4A7D"/>
                </a:solidFill>
                <a:latin typeface="Fredoka"/>
                <a:ea typeface="Fredoka"/>
                <a:cs typeface="Fredoka"/>
                <a:sym typeface="Fredoka"/>
              </a:rPr>
              <a:t>Thank You </a:t>
            </a:r>
          </a:p>
        </p:txBody>
      </p:sp>
      <p:sp>
        <p:nvSpPr>
          <p:cNvPr name="Freeform 3" id="3"/>
          <p:cNvSpPr/>
          <p:nvPr/>
        </p:nvSpPr>
        <p:spPr>
          <a:xfrm flipH="true" flipV="false" rot="0">
            <a:off x="-1290627" y="8231777"/>
            <a:ext cx="6386288" cy="2055223"/>
          </a:xfrm>
          <a:custGeom>
            <a:avLst/>
            <a:gdLst/>
            <a:ahLst/>
            <a:cxnLst/>
            <a:rect r="r" b="b" t="t" l="l"/>
            <a:pathLst>
              <a:path h="2055223" w="6386288">
                <a:moveTo>
                  <a:pt x="6386287" y="0"/>
                </a:moveTo>
                <a:lnTo>
                  <a:pt x="0" y="0"/>
                </a:lnTo>
                <a:lnTo>
                  <a:pt x="0" y="2055223"/>
                </a:lnTo>
                <a:lnTo>
                  <a:pt x="6386287" y="2055223"/>
                </a:lnTo>
                <a:lnTo>
                  <a:pt x="638628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3159321" y="0"/>
            <a:ext cx="6381347" cy="2053633"/>
          </a:xfrm>
          <a:custGeom>
            <a:avLst/>
            <a:gdLst/>
            <a:ahLst/>
            <a:cxnLst/>
            <a:rect r="r" b="b" t="t" l="l"/>
            <a:pathLst>
              <a:path h="2053633" w="6381347">
                <a:moveTo>
                  <a:pt x="0" y="2053633"/>
                </a:moveTo>
                <a:lnTo>
                  <a:pt x="6381347" y="2053633"/>
                </a:lnTo>
                <a:lnTo>
                  <a:pt x="6381347" y="0"/>
                </a:lnTo>
                <a:lnTo>
                  <a:pt x="0" y="0"/>
                </a:lnTo>
                <a:lnTo>
                  <a:pt x="0" y="205363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028700" y="1026817"/>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4314668" y="8615835"/>
            <a:ext cx="2944632" cy="642465"/>
          </a:xfrm>
          <a:custGeom>
            <a:avLst/>
            <a:gdLst/>
            <a:ahLst/>
            <a:cxnLst/>
            <a:rect r="r" b="b" t="t" l="l"/>
            <a:pathLst>
              <a:path h="642465" w="2944632">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DAG3qLyyuI0</dc:identifier>
  <dcterms:modified xsi:type="dcterms:W3CDTF">2011-08-01T06:04:30Z</dcterms:modified>
  <cp:revision>1</cp:revision>
  <dc:title>Hand Sign CNN</dc:title>
</cp:coreProperties>
</file>